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1">
            <a:off x="952500" y="790575"/>
            <a:ext cx="209550" cy="2095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762000"/>
            <a:ext cx="850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</a:t>
            </a:r>
            <a:pPr algn="l" indent="0" marL="0">
              <a:buNone/>
            </a:pPr>
            <a:r>
              <a:rPr lang="en-US" sz="18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034183"/>
            <a:ext cx="79045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· TI616 · NUMÉRIQUE DURABLE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2948583"/>
            <a:ext cx="7904552" cy="2719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900" b="1" spc="-1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Une bibliothèque étudiante, </a:t>
            </a:r>
            <a:pPr algn="l" indent="0" marL="0">
              <a:lnSpc>
                <a:spcPct val="102000"/>
              </a:lnSpc>
              <a:buNone/>
            </a:pPr>
            <a:r>
              <a:rPr lang="en-US" sz="6900" b="1" spc="-172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sobre par défaut.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952500" y="5896421"/>
            <a:ext cx="765238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Plateforme de partage de ressources pédagogiques pour l'EFREI — conçue pour rester sous les 200 Ko par page.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8181975"/>
            <a:ext cx="7674322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8420100"/>
            <a:ext cx="1553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ING1 — AFR2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11214" y="8420100"/>
            <a:ext cx="44576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M. Dilhan · E. Fong · S. Van · M. De Crouy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9067800"/>
            <a:ext cx="2705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Coordinateur : Yvan Guifo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59870" y="9067800"/>
            <a:ext cx="13343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mai 2026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79322" y="0"/>
            <a:ext cx="8708678" cy="102870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31822" y="3700463"/>
            <a:ext cx="6803678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531822" y="2671763"/>
            <a:ext cx="217512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 Ko</a:t>
            </a:r>
            <a:endParaRPr lang="en-US" sz="6300" dirty="0"/>
          </a:p>
        </p:txBody>
      </p:sp>
      <p:sp>
        <p:nvSpPr>
          <p:cNvPr id="15" name="Text 13"/>
          <p:cNvSpPr/>
          <p:nvPr/>
        </p:nvSpPr>
        <p:spPr>
          <a:xfrm>
            <a:off x="12859345" y="3138488"/>
            <a:ext cx="46104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D'ACCUEIL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31822" y="5005388"/>
            <a:ext cx="6803678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531822" y="3976687"/>
            <a:ext cx="50527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11189494" y="4443413"/>
            <a:ext cx="63303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REQUÊTES HTTP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31822" y="6310313"/>
            <a:ext cx="6803678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531822" y="5281613"/>
            <a:ext cx="63802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endParaRPr lang="en-US" sz="6300" dirty="0"/>
          </a:p>
        </p:txBody>
      </p:sp>
      <p:sp>
        <p:nvSpPr>
          <p:cNvPr id="21" name="Text 19"/>
          <p:cNvSpPr/>
          <p:nvPr/>
        </p:nvSpPr>
        <p:spPr>
          <a:xfrm>
            <a:off x="11322248" y="5748338"/>
            <a:ext cx="61936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NOTE ECOINDEX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31822" y="6586538"/>
            <a:ext cx="22484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0,08 g</a:t>
            </a:r>
            <a:endParaRPr lang="en-US" sz="6300" dirty="0"/>
          </a:p>
        </p:txBody>
      </p:sp>
      <p:sp>
        <p:nvSpPr>
          <p:cNvPr id="23" name="Text 21"/>
          <p:cNvSpPr/>
          <p:nvPr/>
        </p:nvSpPr>
        <p:spPr>
          <a:xfrm>
            <a:off x="12932718" y="7053263"/>
            <a:ext cx="4534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CO₂ PAR VISITE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35076" y="514350"/>
            <a:ext cx="22766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· L'ÉQUIPE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INTRODUCTION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L'équipe EduLib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3867150" cy="6242596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9225" y="2515642"/>
            <a:ext cx="2933700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8" name="Text 6"/>
          <p:cNvSpPr/>
          <p:nvPr/>
        </p:nvSpPr>
        <p:spPr>
          <a:xfrm>
            <a:off x="1609725" y="2591842"/>
            <a:ext cx="26407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Lead back-end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9225" y="3106192"/>
            <a:ext cx="30217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Mathieu Dilhan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19225" y="3649117"/>
            <a:ext cx="3021711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PHP, base MySQL, sécurité OWASP, intégration des CRUD utilisateurs et ressources.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24450" y="2087017"/>
            <a:ext cx="3867150" cy="6242596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1175" y="2515642"/>
            <a:ext cx="2933700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13" name="Text 11"/>
          <p:cNvSpPr/>
          <p:nvPr/>
        </p:nvSpPr>
        <p:spPr>
          <a:xfrm>
            <a:off x="5781675" y="2591842"/>
            <a:ext cx="26407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91175" y="3106192"/>
            <a:ext cx="30217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Elodie Fong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591175" y="3649117"/>
            <a:ext cx="3021711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Feuille de style 28 Ko, accessibilité, sobriété visuelle, responsive sans framework.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96400" y="2087017"/>
            <a:ext cx="3867150" cy="6242596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63125" y="2515642"/>
            <a:ext cx="2933700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18" name="Text 16"/>
          <p:cNvSpPr/>
          <p:nvPr/>
        </p:nvSpPr>
        <p:spPr>
          <a:xfrm>
            <a:off x="9953625" y="2591842"/>
            <a:ext cx="26407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Green 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63125" y="3106192"/>
            <a:ext cx="30217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Setheary Van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763125" y="3649117"/>
            <a:ext cx="3021711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Mesures EcoIndex, Website Carbon, Lighthouse — protocole d'analyse avant / après.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3468350" y="2087017"/>
            <a:ext cx="3867150" cy="6242596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935075" y="2515642"/>
            <a:ext cx="2933700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3" name="Text 21"/>
          <p:cNvSpPr/>
          <p:nvPr/>
        </p:nvSpPr>
        <p:spPr>
          <a:xfrm>
            <a:off x="14125575" y="2591842"/>
            <a:ext cx="26407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Conception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35075" y="3106192"/>
            <a:ext cx="30217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Maëlys De Crouy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3935075" y="3649117"/>
            <a:ext cx="3021711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UML, modèle de données, rapport, scénarios de tests fonctionnels.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52500" y="8824913"/>
            <a:ext cx="168744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Chaque membre prend la parole — chacun maîtrise l'ensemble du projet, pas seulement sa partie.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86087" y="514350"/>
            <a:ext cx="25256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· LE PROJET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2561927"/>
            <a:ext cx="1687449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5000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971627"/>
            <a:ext cx="14716125" cy="291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800" spc="-48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Une bibliothèque collaborative complète </a:t>
            </a:r>
            <a:pPr algn="l" indent="0" marL="0">
              <a:lnSpc>
                <a:spcPct val="118000"/>
              </a:lnSpc>
              <a:buNone/>
            </a:pPr>
            <a:r>
              <a:rPr lang="en-US" sz="4800" spc="-4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CRUD, votes, favoris, commentaires, admin — </a:t>
            </a:r>
            <a:pPr algn="l" indent="0" marL="0">
              <a:lnSpc>
                <a:spcPct val="118000"/>
              </a:lnSpc>
              <a:buNone/>
            </a:pPr>
            <a:r>
              <a:rPr lang="en-US" sz="4800" spc="-48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sous 200 Ko par page, sans framework JS, sans tracker, sans police téléchargée.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7305973"/>
            <a:ext cx="168744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Proposition de valeur EduLib, en une phrase.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16994" y="514350"/>
            <a:ext cx="16947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PLAN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DÉROULEMENT — 20 MINUTES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Plan de la présentation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925217"/>
            <a:ext cx="77343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315617"/>
            <a:ext cx="914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981200" y="2334667"/>
            <a:ext cx="60012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Introduction &amp; proposition de valeur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998172" y="2420392"/>
            <a:ext cx="7648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min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0" y="2925217"/>
            <a:ext cx="77343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0" y="2315617"/>
            <a:ext cx="914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629900" y="2334667"/>
            <a:ext cx="60012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Conception &amp; architecture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6646872" y="2420392"/>
            <a:ext cx="7648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3849142"/>
            <a:ext cx="77343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239542"/>
            <a:ext cx="914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981200" y="3258592"/>
            <a:ext cx="60012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Démo en live sur le site déployé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998172" y="3344317"/>
            <a:ext cx="7648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min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0" y="3849142"/>
            <a:ext cx="77343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3239542"/>
            <a:ext cx="914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0629900" y="3258592"/>
            <a:ext cx="60012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Analyse de l'empreinte carbone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6646872" y="3344317"/>
            <a:ext cx="7648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min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4773067"/>
            <a:ext cx="77343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4163467"/>
            <a:ext cx="914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981200" y="4182517"/>
            <a:ext cx="60012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Bilan &amp; choix techniques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7998172" y="4268242"/>
            <a:ext cx="7648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min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0" y="4773067"/>
            <a:ext cx="77343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4163467"/>
            <a:ext cx="914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0629900" y="4182517"/>
            <a:ext cx="60012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Questions du jury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6646872" y="4268242"/>
            <a:ext cx="7648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min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16485" y="952500"/>
            <a:ext cx="219521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FFFFF">
                    <a:alpha val="1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6667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PARTIE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6972300"/>
            <a:ext cx="168744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 projet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52500" y="8420100"/>
            <a:ext cx="137350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Contexte, périmètre, utilisateurs cibles et contraintes Green IT retenues dès la conception.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48297" y="514350"/>
            <a:ext cx="24634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· CONTEXTE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DU PROJET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Contexte &amp; proposition de valeur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3715792"/>
            <a:ext cx="8044815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est une bibliothèque de ressources pédagogiques pour les étudiants EFREI : fiches de cours, résumés, exercices, organisés par matière.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5429250"/>
            <a:ext cx="804481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Objectif double : faciliter l'entraide entre étudiants — et démontrer qu'un site utile peut rester sobre.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6638925"/>
            <a:ext cx="1051620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6715125"/>
            <a:ext cx="7468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Dépôt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7470" y="6638925"/>
            <a:ext cx="1591270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11" name="Text 9"/>
          <p:cNvSpPr/>
          <p:nvPr/>
        </p:nvSpPr>
        <p:spPr>
          <a:xfrm>
            <a:off x="2327970" y="6715125"/>
            <a:ext cx="1286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Recherche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62090" y="6638925"/>
            <a:ext cx="877788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13" name="Text 11"/>
          <p:cNvSpPr/>
          <p:nvPr/>
        </p:nvSpPr>
        <p:spPr>
          <a:xfrm>
            <a:off x="4052590" y="6715125"/>
            <a:ext cx="572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73228" y="6638925"/>
            <a:ext cx="1226195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15" name="Text 13"/>
          <p:cNvSpPr/>
          <p:nvPr/>
        </p:nvSpPr>
        <p:spPr>
          <a:xfrm>
            <a:off x="5063728" y="6715125"/>
            <a:ext cx="921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Favoris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2773" y="6638925"/>
            <a:ext cx="2023914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23273" y="6715125"/>
            <a:ext cx="17191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Commentaires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7191375"/>
            <a:ext cx="2057995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7267575"/>
            <a:ext cx="175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Administration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0" y="2087017"/>
            <a:ext cx="7810500" cy="7152233"/>
          </a:xfrm>
          <a:prstGeom prst="roundRect">
            <a:avLst>
              <a:gd name="adj" fmla="val 1598"/>
            </a:avLst>
          </a:prstGeom>
          <a:solidFill>
            <a:srgbClr val="E6F2EC"/>
          </a:solidFill>
          <a:ln w="9525">
            <a:solidFill>
              <a:srgbClr val="C8E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91725" y="4102001"/>
            <a:ext cx="70833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CONTRE-MODÈLE ASSUMÉ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991725" y="4521101"/>
            <a:ext cx="70833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Face à Quizlet, StuDocu ou Schoolmouv — qui pèsent plusieurs Mo et imposent des dizaines de scripts tiers — EduLib choisit l'extrême inverse.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991725" y="5928717"/>
            <a:ext cx="202614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131×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12170271" y="6395442"/>
            <a:ext cx="483945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plus léger que StuDocu sur la page d'accueil.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22686" y="514350"/>
            <a:ext cx="25890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07 · PÉRIMÈTRE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MVP — CE QUE FAIT EDULIB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Périmètre fonctionnel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5232350" cy="3404592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2477542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 · COMPTES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4925" y="2934742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Inscription &amp; authentification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71575" y="3506242"/>
            <a:ext cx="4737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Hash bcrypt (coût 12)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Sessions PHP, SameSite=Strict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Rate limiting 5 tentatives / 15 min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Édition de profil, mot de passe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27750" y="2087017"/>
            <a:ext cx="5232350" cy="3404592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0175" y="2477542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· RESSOURCES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80175" y="2934742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Dépôt &amp; consultation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746825" y="3506242"/>
            <a:ext cx="4737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Statut brouillon ou publié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catégories, recherche plein texte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Pagination 12 / page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Édition / suppression par l'auteur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103001" y="2087017"/>
            <a:ext cx="5232350" cy="3404592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55426" y="2477542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· INTERACTION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55426" y="2934742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Votes, favoris, commentaires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322076" y="3506242"/>
            <a:ext cx="4737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Upvote unique par utilisateur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Favoris personnels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Commentaires + 1 niveau de réponse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Tableau de bord personnel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52500" y="5834509"/>
            <a:ext cx="5232350" cy="34047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4925" y="6225034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ADMIN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04925" y="6682234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Modération &amp; gestion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71575" y="7253734"/>
            <a:ext cx="4737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Dashboard statistiques globales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CRUD utilisateurs + actions groupées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Promotion / rétrogradation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Publication / dépublication en masse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27750" y="5834509"/>
            <a:ext cx="5232350" cy="34047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0175" y="6225034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· SEO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80175" y="6682234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Visibilité sobre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746825" y="7253734"/>
            <a:ext cx="4737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Sitemap XML dynamique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robots.txt — bloque /admin et endpoints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ETag + Cache-Control sur fiches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Balisage sémantique HTML5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103001" y="5834509"/>
            <a:ext cx="5232350" cy="34047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55426" y="6225034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· OBSERVABILITÉ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455426" y="6682234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Logs &amp; tests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322076" y="7253734"/>
            <a:ext cx="473705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var/logs/app.log applicatif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Notifications email (mail() natif)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PHPUnit 11 — Auth + Functions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Variables d'env via .env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99865" y="514350"/>
            <a:ext cx="30237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08 · UTILISATEURS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TROIS PROFILS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Utilisateurs cibles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5156150" cy="7152233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9225" y="4197251"/>
            <a:ext cx="43493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PROFIL 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9225" y="4616351"/>
            <a:ext cx="434938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Visiteur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419225" y="5264051"/>
            <a:ext cx="434938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 connecté. Parcourt et lit toutes les ressources publiées, sans création de compte.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419225" y="6709767"/>
            <a:ext cx="1238845" cy="419100"/>
          </a:xfrm>
          <a:prstGeom prst="roundRect">
            <a:avLst>
              <a:gd name="adj" fmla="val 50000"/>
            </a:avLst>
          </a:prstGeom>
          <a:solidFill>
            <a:srgbClr val="F0F4F1"/>
          </a:solidFill>
          <a:ln/>
        </p:spPr>
      </p:sp>
      <p:sp>
        <p:nvSpPr>
          <p:cNvPr id="11" name="Text 9"/>
          <p:cNvSpPr/>
          <p:nvPr/>
        </p:nvSpPr>
        <p:spPr>
          <a:xfrm>
            <a:off x="1609725" y="6785967"/>
            <a:ext cx="9340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Lecture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34270" y="6709767"/>
            <a:ext cx="1591270" cy="419100"/>
          </a:xfrm>
          <a:prstGeom prst="roundRect">
            <a:avLst>
              <a:gd name="adj" fmla="val 50000"/>
            </a:avLst>
          </a:prstGeom>
          <a:solidFill>
            <a:srgbClr val="F0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2924770" y="6785967"/>
            <a:ext cx="1286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Recherche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65850" y="2087017"/>
            <a:ext cx="5156150" cy="7152233"/>
          </a:xfrm>
          <a:prstGeom prst="roundRect">
            <a:avLst>
              <a:gd name="adj" fmla="val 2217"/>
            </a:avLst>
          </a:prstGeom>
          <a:solidFill>
            <a:srgbClr val="E6F2EC"/>
          </a:solidFill>
          <a:ln w="9525">
            <a:solidFill>
              <a:srgbClr val="C8E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2575" y="3949601"/>
            <a:ext cx="43493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PROFIL 02 — CŒUR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032575" y="4368701"/>
            <a:ext cx="434938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Étudiant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7032575" y="5016401"/>
            <a:ext cx="434938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Connecté. Dépose, modifie, vote, met en favori et commente des ressources.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032575" y="6462117"/>
            <a:ext cx="1327845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075" y="6538317"/>
            <a:ext cx="10230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Déposer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36620" y="6462117"/>
            <a:ext cx="971252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1" name="Text 19"/>
          <p:cNvSpPr/>
          <p:nvPr/>
        </p:nvSpPr>
        <p:spPr>
          <a:xfrm>
            <a:off x="8627120" y="6538317"/>
            <a:ext cx="6664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Voter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84072" y="6462117"/>
            <a:ext cx="1692473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3" name="Text 21"/>
          <p:cNvSpPr/>
          <p:nvPr/>
        </p:nvSpPr>
        <p:spPr>
          <a:xfrm>
            <a:off x="9674572" y="6538317"/>
            <a:ext cx="13876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Commenter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032575" y="6957417"/>
            <a:ext cx="1226195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075" y="7033617"/>
            <a:ext cx="921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Favoris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179201" y="2087017"/>
            <a:ext cx="5156150" cy="7152233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45926" y="3949601"/>
            <a:ext cx="43493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PROFIL 03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2645926" y="4368701"/>
            <a:ext cx="434938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Administrateur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12645926" y="5016401"/>
            <a:ext cx="434938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Modère les contenus, gère la communauté, exécute des actions groupées.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2645926" y="6462117"/>
            <a:ext cx="1731615" cy="419100"/>
          </a:xfrm>
          <a:prstGeom prst="roundRect">
            <a:avLst>
              <a:gd name="adj" fmla="val 50000"/>
            </a:avLst>
          </a:prstGeom>
          <a:solidFill>
            <a:srgbClr val="F0F4F1"/>
          </a:solidFill>
          <a:ln/>
        </p:spPr>
      </p:sp>
      <p:sp>
        <p:nvSpPr>
          <p:cNvPr id="31" name="Text 29"/>
          <p:cNvSpPr/>
          <p:nvPr/>
        </p:nvSpPr>
        <p:spPr>
          <a:xfrm>
            <a:off x="12836426" y="6538317"/>
            <a:ext cx="14268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Statistiques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453741" y="6462117"/>
            <a:ext cx="1760637" cy="419100"/>
          </a:xfrm>
          <a:prstGeom prst="roundRect">
            <a:avLst>
              <a:gd name="adj" fmla="val 50000"/>
            </a:avLst>
          </a:prstGeom>
          <a:solidFill>
            <a:srgbClr val="F0F4F1"/>
          </a:solidFill>
          <a:ln/>
        </p:spPr>
      </p:sp>
      <p:sp>
        <p:nvSpPr>
          <p:cNvPr id="33" name="Text 31"/>
          <p:cNvSpPr/>
          <p:nvPr/>
        </p:nvSpPr>
        <p:spPr>
          <a:xfrm>
            <a:off x="14644241" y="6538317"/>
            <a:ext cx="1455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CRUD users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645926" y="6957417"/>
            <a:ext cx="1795165" cy="419100"/>
          </a:xfrm>
          <a:prstGeom prst="roundRect">
            <a:avLst>
              <a:gd name="adj" fmla="val 50000"/>
            </a:avLst>
          </a:prstGeom>
          <a:solidFill>
            <a:srgbClr val="F0F4F1"/>
          </a:solidFill>
          <a:ln/>
        </p:spPr>
      </p:sp>
      <p:sp>
        <p:nvSpPr>
          <p:cNvPr id="35" name="Text 33"/>
          <p:cNvSpPr/>
          <p:nvPr/>
        </p:nvSpPr>
        <p:spPr>
          <a:xfrm>
            <a:off x="12836426" y="7033617"/>
            <a:ext cx="14903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Bulk actions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32310" y="514350"/>
            <a:ext cx="29902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09 · CONTRAINTES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RÈGLES AUTO-IMPOSÉES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Contraintes Green IT retenues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2087017"/>
            <a:ext cx="80448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Objectifs chiffrés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14450" y="2687092"/>
            <a:ext cx="76828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Poids total &lt;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 Ko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 page (sujet : &lt; 500 Ko)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14450" y="3380482"/>
            <a:ext cx="76828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Moins de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 requêtes HTTP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 page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14450" y="4073872"/>
            <a:ext cx="76828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Lighthouse Performance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&gt; 80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14450" y="4767263"/>
            <a:ext cx="76828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FCP &lt; 1,8 s — LCP &lt; 2,5 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14450" y="5460653"/>
            <a:ext cx="76828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Pagination 12 / page, jamais de scroll infini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2087017"/>
            <a:ext cx="80448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Règles d'architecture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311640" y="2687092"/>
            <a:ext cx="8100060" cy="3238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framework JavaScript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Aucune police téléchargée — system-ui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tracker — aucun cookie tiers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Aucune image décorative en base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Aucune animation ni vidéo en autoplay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16485" y="952500"/>
            <a:ext cx="219521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FFFFF">
                    <a:alpha val="1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71247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PARTIE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7429500"/>
            <a:ext cx="168744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Conception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52500" y="8877300"/>
            <a:ext cx="137350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Architecture, modèle de données, choix technologiques justifiés ligne par ligne.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64432" y="514350"/>
            <a:ext cx="3163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 ·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STACK À 3 COUCHES, SANS FRAMEWORK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générale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5308550" cy="2518321"/>
          </a:xfrm>
          <a:prstGeom prst="roundRect">
            <a:avLst>
              <a:gd name="adj" fmla="val 5295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6825" y="2439442"/>
            <a:ext cx="4820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6825" y="2868067"/>
            <a:ext cx="482029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HTML5 + CSS3 vanilla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66825" y="3372892"/>
            <a:ext cx="482029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framework, aucun pipeline de build. Une seule feuille de style de 28 Ko, police système.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89650" y="2087017"/>
            <a:ext cx="5308550" cy="2518321"/>
          </a:xfrm>
          <a:prstGeom prst="roundRect">
            <a:avLst>
              <a:gd name="adj" fmla="val 5295"/>
            </a:avLst>
          </a:prstGeom>
          <a:solidFill>
            <a:srgbClr val="E6F2EC"/>
          </a:solidFill>
          <a:ln w="9525">
            <a:solidFill>
              <a:srgbClr val="C8E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3975" y="2439442"/>
            <a:ext cx="4820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LOGIQUE APPLICATIVE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803975" y="2868067"/>
            <a:ext cx="482029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PHP 8.0 natif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803975" y="3372892"/>
            <a:ext cx="4820297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≈ 70 fichiers .php organisés en pages + endpoints. Hébergement mutualisé, démarrage à froid quasi nul.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026801" y="2087017"/>
            <a:ext cx="5308550" cy="2518321"/>
          </a:xfrm>
          <a:prstGeom prst="roundRect">
            <a:avLst>
              <a:gd name="adj" fmla="val 5295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1126" y="2439442"/>
            <a:ext cx="4820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DONNÉES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41126" y="2868067"/>
            <a:ext cx="482029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MySQL 8.0 + PDO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341126" y="3372892"/>
            <a:ext cx="482029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Requêtes paramétrées, JOIN explicites, pas de N+1, pagination LIMIT/OFFSET.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496568" y="5655469"/>
            <a:ext cx="262897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HTTP / 1.1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810970" y="5655469"/>
            <a:ext cx="33316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PDO PREPARED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807601" y="5655469"/>
            <a:ext cx="41031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 DÉPENDANCE PROD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52500" y="6953250"/>
            <a:ext cx="8077200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6825" y="7305675"/>
            <a:ext cx="76720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SESSIONS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66825" y="7734300"/>
            <a:ext cx="767200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Sessions PHP natives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266825" y="8239125"/>
            <a:ext cx="767200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HttpOnly · SameSite=Strict · regenerate_id après login. Pas de JWT, pas de Redis.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258300" y="6953250"/>
            <a:ext cx="8077200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2625" y="7305675"/>
            <a:ext cx="76720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572625" y="7734300"/>
            <a:ext cx="767200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PHPUnit 11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572625" y="8239125"/>
            <a:ext cx="767200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Une seule devDependency, zéro dépendance en production. Suite légère sans mocking BDD.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10741" y="514350"/>
            <a:ext cx="41455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 · MODÈLE DE DONNÉES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TABLES INNODB · CONTRAINTES FK · CASCADES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Modèle de données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3924300" cy="4509492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2D7A4F"/>
            </a:solidFill>
            <a:prstDash val="solid"/>
          </a:ln>
          <a:effectLst>
            <a:outerShdw sx="100000" sy="100000" kx="0" ky="0" algn="bl" rotWithShape="0" blurRad="101600" dist="50800" dir="16200000">
              <a:srgbClr val="E6F2EC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2025" y="2096542"/>
            <a:ext cx="3905250" cy="5334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8" name="Text 6"/>
          <p:cNvSpPr/>
          <p:nvPr/>
        </p:nvSpPr>
        <p:spPr>
          <a:xfrm>
            <a:off x="1133475" y="2229892"/>
            <a:ext cx="116919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53942" y="2248942"/>
            <a:ext cx="541883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230142" y="2277517"/>
            <a:ext cx="4656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PK 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3475" y="2734717"/>
            <a:ext cx="5784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titre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70747" y="2734717"/>
            <a:ext cx="7012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VARCHAR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2025" y="30395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475" y="3153817"/>
            <a:ext cx="11812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description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38638" y="3153817"/>
            <a:ext cx="4333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2025" y="34586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7" name="Text 15"/>
          <p:cNvSpPr/>
          <p:nvPr/>
        </p:nvSpPr>
        <p:spPr>
          <a:xfrm>
            <a:off x="1133475" y="3572917"/>
            <a:ext cx="7794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contenu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38638" y="3572917"/>
            <a:ext cx="4333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2025" y="38777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475" y="3992017"/>
            <a:ext cx="6789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status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338638" y="3992017"/>
            <a:ext cx="4333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ENUM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2025" y="42968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475" y="4411117"/>
            <a:ext cx="12064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auteur_id ↗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17231" y="4411117"/>
            <a:ext cx="254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2025" y="4744492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475" y="4858792"/>
            <a:ext cx="15077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categorie_id ↗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17231" y="4858792"/>
            <a:ext cx="254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2025" y="519216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9" name="Text 27"/>
          <p:cNvSpPr/>
          <p:nvPr/>
        </p:nvSpPr>
        <p:spPr>
          <a:xfrm>
            <a:off x="1133475" y="5306467"/>
            <a:ext cx="1080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created_at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892153" y="5306467"/>
            <a:ext cx="8798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2025" y="561126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475" y="5725567"/>
            <a:ext cx="1080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updated_at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892153" y="5725567"/>
            <a:ext cx="8798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05400" y="2087017"/>
            <a:ext cx="3924300" cy="4509492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2D7A4F"/>
            </a:solidFill>
            <a:prstDash val="solid"/>
          </a:ln>
          <a:effectLst>
            <a:outerShdw sx="100000" sy="100000" kx="0" ky="0" algn="bl" rotWithShape="0" blurRad="101600" dist="50800" dir="16200000">
              <a:srgbClr val="E6F2EC">
                <a:alpha val="10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14925" y="2096542"/>
            <a:ext cx="3905250" cy="5334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36" name="Text 34"/>
          <p:cNvSpPr/>
          <p:nvPr/>
        </p:nvSpPr>
        <p:spPr>
          <a:xfrm>
            <a:off x="5286375" y="2229892"/>
            <a:ext cx="6862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06842" y="2248942"/>
            <a:ext cx="541883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383042" y="2277517"/>
            <a:ext cx="4656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PK id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86375" y="2734717"/>
            <a:ext cx="3775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nom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223647" y="2734717"/>
            <a:ext cx="7012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VARCHAR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114925" y="30395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2" name="Text 40"/>
          <p:cNvSpPr/>
          <p:nvPr/>
        </p:nvSpPr>
        <p:spPr>
          <a:xfrm>
            <a:off x="5286375" y="3153817"/>
            <a:ext cx="6789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prenom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223647" y="3153817"/>
            <a:ext cx="7012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VARCHAR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114925" y="34586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5" name="Text 43"/>
          <p:cNvSpPr/>
          <p:nvPr/>
        </p:nvSpPr>
        <p:spPr>
          <a:xfrm>
            <a:off x="5286375" y="3572917"/>
            <a:ext cx="5784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email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312944" y="3572917"/>
            <a:ext cx="6119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UNIQUE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114925" y="38777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8" name="Text 46"/>
          <p:cNvSpPr/>
          <p:nvPr/>
        </p:nvSpPr>
        <p:spPr>
          <a:xfrm>
            <a:off x="5286375" y="3992017"/>
            <a:ext cx="8798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password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312944" y="3992017"/>
            <a:ext cx="6119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bcrypt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14925" y="42968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1" name="Text 49"/>
          <p:cNvSpPr/>
          <p:nvPr/>
        </p:nvSpPr>
        <p:spPr>
          <a:xfrm>
            <a:off x="5286375" y="4411117"/>
            <a:ext cx="4780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role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8491538" y="4411117"/>
            <a:ext cx="4333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ENUM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114925" y="47159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4" name="Text 52"/>
          <p:cNvSpPr/>
          <p:nvPr/>
        </p:nvSpPr>
        <p:spPr>
          <a:xfrm>
            <a:off x="5286375" y="4830217"/>
            <a:ext cx="1080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created_at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8045053" y="4830217"/>
            <a:ext cx="8798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58300" y="2087017"/>
            <a:ext cx="3924300" cy="4509492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67825" y="2096542"/>
            <a:ext cx="3905250" cy="5334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8" name="Text 56"/>
          <p:cNvSpPr/>
          <p:nvPr/>
        </p:nvSpPr>
        <p:spPr>
          <a:xfrm>
            <a:off x="9439275" y="2229892"/>
            <a:ext cx="36795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9439275" y="2734717"/>
            <a:ext cx="3775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nom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2465844" y="2734717"/>
            <a:ext cx="6119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UNIQUE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267825" y="30395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2" name="Text 60"/>
          <p:cNvSpPr/>
          <p:nvPr/>
        </p:nvSpPr>
        <p:spPr>
          <a:xfrm>
            <a:off x="9439275" y="3153817"/>
            <a:ext cx="4780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slug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2465844" y="3153817"/>
            <a:ext cx="6119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UNIQUE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3411200" y="2087017"/>
            <a:ext cx="3924300" cy="4509492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420725" y="2096542"/>
            <a:ext cx="3905250" cy="5334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66" name="Text 64"/>
          <p:cNvSpPr/>
          <p:nvPr/>
        </p:nvSpPr>
        <p:spPr>
          <a:xfrm>
            <a:off x="13592175" y="2229892"/>
            <a:ext cx="36795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comments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3592175" y="2734717"/>
            <a:ext cx="14073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resource_id ↗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16975931" y="2734717"/>
            <a:ext cx="254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FK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3420725" y="3068092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70" name="Text 68"/>
          <p:cNvSpPr/>
          <p:nvPr/>
        </p:nvSpPr>
        <p:spPr>
          <a:xfrm>
            <a:off x="13592175" y="3182392"/>
            <a:ext cx="10054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user_id ↗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16975931" y="3182392"/>
            <a:ext cx="254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FK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3420725" y="351576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73" name="Text 71"/>
          <p:cNvSpPr/>
          <p:nvPr/>
        </p:nvSpPr>
        <p:spPr>
          <a:xfrm>
            <a:off x="13592175" y="3630067"/>
            <a:ext cx="12148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parent_id ↺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6529447" y="3630067"/>
            <a:ext cx="7012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self FK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13420725" y="3953917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76" name="Text 74"/>
          <p:cNvSpPr/>
          <p:nvPr/>
        </p:nvSpPr>
        <p:spPr>
          <a:xfrm>
            <a:off x="13592175" y="4068217"/>
            <a:ext cx="7794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contenu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16797338" y="4068217"/>
            <a:ext cx="4333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TEXT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52500" y="6825109"/>
            <a:ext cx="3924300" cy="2414141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62025" y="6834634"/>
            <a:ext cx="3905250" cy="5334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80" name="Text 78"/>
          <p:cNvSpPr/>
          <p:nvPr/>
        </p:nvSpPr>
        <p:spPr>
          <a:xfrm>
            <a:off x="1133475" y="6967984"/>
            <a:ext cx="67344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votes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3840510" y="6987034"/>
            <a:ext cx="855315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3916710" y="7015609"/>
            <a:ext cx="7791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PK comp.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133475" y="7472809"/>
            <a:ext cx="14073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resource_id ↗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4517231" y="7472809"/>
            <a:ext cx="254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FK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62025" y="7806184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86" name="Text 84"/>
          <p:cNvSpPr/>
          <p:nvPr/>
        </p:nvSpPr>
        <p:spPr>
          <a:xfrm>
            <a:off x="1133475" y="7920484"/>
            <a:ext cx="10054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user_id ↗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4517231" y="7920484"/>
            <a:ext cx="254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FK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962025" y="8253859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89" name="Text 87"/>
          <p:cNvSpPr/>
          <p:nvPr/>
        </p:nvSpPr>
        <p:spPr>
          <a:xfrm>
            <a:off x="1133475" y="8368159"/>
            <a:ext cx="10807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created_at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3892153" y="8368159"/>
            <a:ext cx="8798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5105400" y="6825109"/>
            <a:ext cx="3924300" cy="2414141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114925" y="6834634"/>
            <a:ext cx="3905250" cy="5334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93" name="Text 91"/>
          <p:cNvSpPr/>
          <p:nvPr/>
        </p:nvSpPr>
        <p:spPr>
          <a:xfrm>
            <a:off x="5286375" y="6967984"/>
            <a:ext cx="10291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favorites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7993410" y="6987034"/>
            <a:ext cx="855315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8069610" y="7015609"/>
            <a:ext cx="7791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PK comp.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5286375" y="7472809"/>
            <a:ext cx="14073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resource_id ↗</a:t>
            </a:r>
            <a:endParaRPr lang="en-US" sz="1350" dirty="0"/>
          </a:p>
        </p:txBody>
      </p:sp>
      <p:sp>
        <p:nvSpPr>
          <p:cNvPr id="97" name="Text 95"/>
          <p:cNvSpPr/>
          <p:nvPr/>
        </p:nvSpPr>
        <p:spPr>
          <a:xfrm>
            <a:off x="8670131" y="7472809"/>
            <a:ext cx="254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FK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5114925" y="7806184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99" name="Text 97"/>
          <p:cNvSpPr/>
          <p:nvPr/>
        </p:nvSpPr>
        <p:spPr>
          <a:xfrm>
            <a:off x="5286375" y="7920484"/>
            <a:ext cx="10054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7A4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user_id ↗</a:t>
            </a:r>
            <a:endParaRPr lang="en-US" sz="1350" dirty="0"/>
          </a:p>
        </p:txBody>
      </p:sp>
      <p:sp>
        <p:nvSpPr>
          <p:cNvPr id="100" name="Text 98"/>
          <p:cNvSpPr/>
          <p:nvPr/>
        </p:nvSpPr>
        <p:spPr>
          <a:xfrm>
            <a:off x="8670131" y="7920484"/>
            <a:ext cx="254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FK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9258300" y="6825109"/>
            <a:ext cx="3924300" cy="2414141"/>
          </a:xfrm>
          <a:prstGeom prst="roundRect">
            <a:avLst>
              <a:gd name="adj" fmla="val 394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267825" y="6834634"/>
            <a:ext cx="3905250" cy="53340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03" name="Text 101"/>
          <p:cNvSpPr/>
          <p:nvPr/>
        </p:nvSpPr>
        <p:spPr>
          <a:xfrm>
            <a:off x="9439275" y="6967984"/>
            <a:ext cx="36795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login_attempts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9439275" y="7472809"/>
            <a:ext cx="2771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ip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12823031" y="7472809"/>
            <a:ext cx="2547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PK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9267825" y="7777609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07" name="Text 105"/>
          <p:cNvSpPr/>
          <p:nvPr/>
        </p:nvSpPr>
        <p:spPr>
          <a:xfrm>
            <a:off x="9439275" y="7891909"/>
            <a:ext cx="8798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attempts</a:t>
            </a:r>
            <a:endParaRPr lang="en-US" sz="1350" dirty="0"/>
          </a:p>
        </p:txBody>
      </p:sp>
      <p:sp>
        <p:nvSpPr>
          <p:cNvPr id="108" name="Text 106"/>
          <p:cNvSpPr/>
          <p:nvPr/>
        </p:nvSpPr>
        <p:spPr>
          <a:xfrm>
            <a:off x="12733734" y="7891909"/>
            <a:ext cx="3440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9267825" y="8196709"/>
            <a:ext cx="39052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10" name="Text 108"/>
          <p:cNvSpPr/>
          <p:nvPr/>
        </p:nvSpPr>
        <p:spPr>
          <a:xfrm>
            <a:off x="9439275" y="8311009"/>
            <a:ext cx="12817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last_attempt</a:t>
            </a:r>
            <a:endParaRPr lang="en-US" sz="1350" dirty="0"/>
          </a:p>
        </p:txBody>
      </p:sp>
      <p:sp>
        <p:nvSpPr>
          <p:cNvPr id="111" name="Text 109"/>
          <p:cNvSpPr/>
          <p:nvPr/>
        </p:nvSpPr>
        <p:spPr>
          <a:xfrm>
            <a:off x="12197953" y="8311009"/>
            <a:ext cx="8798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13411200" y="6825109"/>
            <a:ext cx="3924300" cy="2414141"/>
          </a:xfrm>
          <a:prstGeom prst="roundRect">
            <a:avLst>
              <a:gd name="adj" fmla="val 3946"/>
            </a:avLst>
          </a:prstGeom>
          <a:ln w="9525">
            <a:solidFill>
              <a:srgbClr val="DCE4DC"/>
            </a:solidFill>
            <a:prstDash val="dash"/>
          </a:ln>
        </p:spPr>
      </p:sp>
      <p:sp>
        <p:nvSpPr>
          <p:cNvPr id="113" name="Text 111"/>
          <p:cNvSpPr/>
          <p:nvPr/>
        </p:nvSpPr>
        <p:spPr>
          <a:xfrm>
            <a:off x="13785652" y="6967984"/>
            <a:ext cx="32706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Aucune table de jonction superflue</a:t>
            </a:r>
            <a:endParaRPr lang="en-US" sz="1500" dirty="0"/>
          </a:p>
        </p:txBody>
      </p:sp>
      <p:sp>
        <p:nvSpPr>
          <p:cNvPr id="114" name="Text 112"/>
          <p:cNvSpPr/>
          <p:nvPr/>
        </p:nvSpPr>
        <p:spPr>
          <a:xfrm>
            <a:off x="14457611" y="7187059"/>
            <a:ext cx="19075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champ JSON</a:t>
            </a:r>
            <a:endParaRPr lang="en-US" sz="1500" dirty="0"/>
          </a:p>
        </p:txBody>
      </p:sp>
      <p:sp>
        <p:nvSpPr>
          <p:cNvPr id="115" name="Text 113"/>
          <p:cNvSpPr/>
          <p:nvPr/>
        </p:nvSpPr>
        <p:spPr>
          <a:xfrm>
            <a:off x="14083754" y="7406134"/>
            <a:ext cx="265641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ENUM SQL plutôt que tables référentielles</a:t>
            </a:r>
            <a:endParaRPr lang="en-US" sz="1500" dirty="0"/>
          </a:p>
        </p:txBody>
      </p:sp>
      <p:sp>
        <p:nvSpPr>
          <p:cNvPr id="116" name="Text 114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94754" y="514350"/>
            <a:ext cx="46769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13 · CHOIX TECHNOLOGIQUES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« SI UNE DÉPENDANCE N'ÉCONOMISE PAS PLUS D'OCTETS QU'ELLE N'EN COÛTE, ELLE NE RENTRE PAS »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7335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7335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Choix technologiques justifiés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967038"/>
            <a:ext cx="294888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25167"/>
            <a:ext cx="2656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BRIQUE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01380" y="2967038"/>
            <a:ext cx="393189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9" name="Text 7"/>
          <p:cNvSpPr/>
          <p:nvPr/>
        </p:nvSpPr>
        <p:spPr>
          <a:xfrm>
            <a:off x="4091880" y="2525167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CHOIX RETENU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33271" y="2967038"/>
            <a:ext cx="393189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1" name="Text 9"/>
          <p:cNvSpPr/>
          <p:nvPr/>
        </p:nvSpPr>
        <p:spPr>
          <a:xfrm>
            <a:off x="8023771" y="2525167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ALTERNATIVE ÉCARTÉE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765161" y="2967038"/>
            <a:ext cx="5570339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3" name="Text 11"/>
          <p:cNvSpPr/>
          <p:nvPr/>
        </p:nvSpPr>
        <p:spPr>
          <a:xfrm>
            <a:off x="11955661" y="2525167"/>
            <a:ext cx="535644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JUSTIFICATION GREEN IT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3869829"/>
            <a:ext cx="294888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119438"/>
            <a:ext cx="26563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01380" y="3869829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7" name="Text 15"/>
          <p:cNvSpPr/>
          <p:nvPr/>
        </p:nvSpPr>
        <p:spPr>
          <a:xfrm>
            <a:off x="4091880" y="3119438"/>
            <a:ext cx="36688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HTML5 + CSS3 natif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33271" y="3869829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9" name="Text 17"/>
          <p:cNvSpPr/>
          <p:nvPr/>
        </p:nvSpPr>
        <p:spPr>
          <a:xfrm>
            <a:off x="8023771" y="3119438"/>
            <a:ext cx="36688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React / Vue / Tailwind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765161" y="3869829"/>
            <a:ext cx="5570339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1" name="Text 19"/>
          <p:cNvSpPr/>
          <p:nvPr/>
        </p:nvSpPr>
        <p:spPr>
          <a:xfrm>
            <a:off x="11955661" y="3119438"/>
            <a:ext cx="535644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Bundle JS = 0 Ko · pas d'hydratation · pas de pipeline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4454575"/>
            <a:ext cx="294888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012704"/>
            <a:ext cx="2656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901380" y="4454575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5" name="Text 23"/>
          <p:cNvSpPr/>
          <p:nvPr/>
        </p:nvSpPr>
        <p:spPr>
          <a:xfrm>
            <a:off x="4091880" y="4012704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system-ui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833271" y="4454575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7" name="Text 25"/>
          <p:cNvSpPr/>
          <p:nvPr/>
        </p:nvSpPr>
        <p:spPr>
          <a:xfrm>
            <a:off x="8023771" y="4012704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Google Fonts (Inter)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765161" y="4454575"/>
            <a:ext cx="5570339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9" name="Text 27"/>
          <p:cNvSpPr/>
          <p:nvPr/>
        </p:nvSpPr>
        <p:spPr>
          <a:xfrm>
            <a:off x="11955661" y="4012704"/>
            <a:ext cx="535644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 requête externe · 0 Ko téléchargé · pas de FOUT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5039320"/>
            <a:ext cx="294888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4597450"/>
            <a:ext cx="2656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Back-end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901380" y="5039320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3" name="Text 31"/>
          <p:cNvSpPr/>
          <p:nvPr/>
        </p:nvSpPr>
        <p:spPr>
          <a:xfrm>
            <a:off x="4091880" y="4597450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PHP 8.0 vanilla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833271" y="5039320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5" name="Text 33"/>
          <p:cNvSpPr/>
          <p:nvPr/>
        </p:nvSpPr>
        <p:spPr>
          <a:xfrm>
            <a:off x="8023771" y="4597450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Laravel / Symfony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765161" y="5039320"/>
            <a:ext cx="5570339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7" name="Text 35"/>
          <p:cNvSpPr/>
          <p:nvPr/>
        </p:nvSpPr>
        <p:spPr>
          <a:xfrm>
            <a:off x="11955661" y="4597450"/>
            <a:ext cx="535644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Démarrage à froid quasi nul · ~70 fichiers .php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52500" y="5932587"/>
            <a:ext cx="294888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5182195"/>
            <a:ext cx="26563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BDD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901380" y="5932587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1" name="Text 39"/>
          <p:cNvSpPr/>
          <p:nvPr/>
        </p:nvSpPr>
        <p:spPr>
          <a:xfrm>
            <a:off x="4091880" y="5182195"/>
            <a:ext cx="36688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MySQL + PDO direct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833271" y="5932587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3" name="Text 41"/>
          <p:cNvSpPr/>
          <p:nvPr/>
        </p:nvSpPr>
        <p:spPr>
          <a:xfrm>
            <a:off x="8023771" y="5182195"/>
            <a:ext cx="36688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Doctrine / Eloquent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1765161" y="5932587"/>
            <a:ext cx="5570339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5" name="Text 43"/>
          <p:cNvSpPr/>
          <p:nvPr/>
        </p:nvSpPr>
        <p:spPr>
          <a:xfrm>
            <a:off x="11955661" y="5182195"/>
            <a:ext cx="535644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Requêtes sur mesure · pas de classe magique · pas de N+1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52500" y="6517332"/>
            <a:ext cx="294888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7" name="Text 45"/>
          <p:cNvSpPr/>
          <p:nvPr/>
        </p:nvSpPr>
        <p:spPr>
          <a:xfrm>
            <a:off x="1143000" y="6075462"/>
            <a:ext cx="2656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901380" y="6517332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9" name="Text 47"/>
          <p:cNvSpPr/>
          <p:nvPr/>
        </p:nvSpPr>
        <p:spPr>
          <a:xfrm>
            <a:off x="4091880" y="6075462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Sessions PHP + bcrypt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833271" y="6517332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1" name="Text 49"/>
          <p:cNvSpPr/>
          <p:nvPr/>
        </p:nvSpPr>
        <p:spPr>
          <a:xfrm>
            <a:off x="8023771" y="6075462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JWT + biblio tierce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1765161" y="6517332"/>
            <a:ext cx="5570339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3" name="Text 51"/>
          <p:cNvSpPr/>
          <p:nvPr/>
        </p:nvSpPr>
        <p:spPr>
          <a:xfrm>
            <a:off x="11955661" y="6075462"/>
            <a:ext cx="535644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Aucune dépendance · secret rotatif côté serveur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52500" y="7410599"/>
            <a:ext cx="294888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5" name="Text 53"/>
          <p:cNvSpPr/>
          <p:nvPr/>
        </p:nvSpPr>
        <p:spPr>
          <a:xfrm>
            <a:off x="1143000" y="6660207"/>
            <a:ext cx="26563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Build front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3901380" y="7410599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7" name="Text 55"/>
          <p:cNvSpPr/>
          <p:nvPr/>
        </p:nvSpPr>
        <p:spPr>
          <a:xfrm>
            <a:off x="4091880" y="6660207"/>
            <a:ext cx="36688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(livré tel quel)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7833271" y="7410599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9" name="Text 57"/>
          <p:cNvSpPr/>
          <p:nvPr/>
        </p:nvSpPr>
        <p:spPr>
          <a:xfrm>
            <a:off x="8023771" y="6660207"/>
            <a:ext cx="36688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Vite / Webpack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1765161" y="7410599"/>
            <a:ext cx="5570339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1" name="Text 59"/>
          <p:cNvSpPr/>
          <p:nvPr/>
        </p:nvSpPr>
        <p:spPr>
          <a:xfrm>
            <a:off x="11955661" y="6660207"/>
            <a:ext cx="535644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 seul fichier CSS · pas de minification mais pas de pipeline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52500" y="8303865"/>
            <a:ext cx="294888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3" name="Text 61"/>
          <p:cNvSpPr/>
          <p:nvPr/>
        </p:nvSpPr>
        <p:spPr>
          <a:xfrm>
            <a:off x="1143000" y="7553474"/>
            <a:ext cx="26563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Tests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3901380" y="8303865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5" name="Text 63"/>
          <p:cNvSpPr/>
          <p:nvPr/>
        </p:nvSpPr>
        <p:spPr>
          <a:xfrm>
            <a:off x="4091880" y="7553474"/>
            <a:ext cx="36688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PHPUnit 11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7833271" y="8303865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7" name="Text 65"/>
          <p:cNvSpPr/>
          <p:nvPr/>
        </p:nvSpPr>
        <p:spPr>
          <a:xfrm>
            <a:off x="8023771" y="7553474"/>
            <a:ext cx="36688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Cypress / Playwright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1765161" y="8303865"/>
            <a:ext cx="5570339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9" name="Text 67"/>
          <p:cNvSpPr/>
          <p:nvPr/>
        </p:nvSpPr>
        <p:spPr>
          <a:xfrm>
            <a:off x="11955661" y="7553474"/>
            <a:ext cx="535644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Tests unitaires rapides · aucune dépendance navigateur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143000" y="8446740"/>
            <a:ext cx="2656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Cache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4091880" y="8446740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ETag + Cache-Control HTTP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8023771" y="8446740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Redis / Memcached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11955661" y="8446740"/>
            <a:ext cx="535644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service supplémentaire à faire tourner 24/7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16485" y="952500"/>
            <a:ext cx="219521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FFFFF">
                    <a:alpha val="1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6667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PARTIE 3 — 5 MINUTES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6972300"/>
            <a:ext cx="168744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Démo en live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52500" y="8420100"/>
            <a:ext cx="137350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Navigation sur le site déployé — CRUD utilisateurs, ressources, votes, favoris, espace admin.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53445" y="514350"/>
            <a:ext cx="17582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 · DÉMO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PLAN DE SECOURS — CAPTURES DU SITE DÉPLOYÉ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en production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315617"/>
            <a:ext cx="16383000" cy="6923633"/>
          </a:xfrm>
          <a:prstGeom prst="roundRect">
            <a:avLst>
              <a:gd name="adj" fmla="val 192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2025" y="2325142"/>
            <a:ext cx="16363950" cy="676275"/>
          </a:xfrm>
          <a:prstGeom prst="rect">
            <a:avLst/>
          </a:prstGeom>
          <a:solidFill>
            <a:srgbClr val="F0F4F1"/>
          </a:solidFill>
          <a:ln/>
        </p:spPr>
      </p:sp>
      <p:sp>
        <p:nvSpPr>
          <p:cNvPr id="8" name="Shape 6"/>
          <p:cNvSpPr/>
          <p:nvPr/>
        </p:nvSpPr>
        <p:spPr>
          <a:xfrm>
            <a:off x="962025" y="2991892"/>
            <a:ext cx="163639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2591842"/>
            <a:ext cx="133350" cy="133350"/>
          </a:xfrm>
          <a:prstGeom prst="ellipse">
            <a:avLst/>
          </a:prstGeom>
          <a:solidFill>
            <a:srgbClr val="DCE4DC"/>
          </a:solidFill>
          <a:ln/>
        </p:spPr>
      </p:sp>
      <p:sp>
        <p:nvSpPr>
          <p:cNvPr id="10" name="Shape 8"/>
          <p:cNvSpPr/>
          <p:nvPr/>
        </p:nvSpPr>
        <p:spPr>
          <a:xfrm>
            <a:off x="1362075" y="2591842"/>
            <a:ext cx="133350" cy="133350"/>
          </a:xfrm>
          <a:prstGeom prst="ellipse">
            <a:avLst/>
          </a:prstGeom>
          <a:solidFill>
            <a:srgbClr val="DCE4DC"/>
          </a:solidFill>
          <a:ln/>
        </p:spPr>
      </p:sp>
      <p:sp>
        <p:nvSpPr>
          <p:cNvPr id="11" name="Shape 9"/>
          <p:cNvSpPr/>
          <p:nvPr/>
        </p:nvSpPr>
        <p:spPr>
          <a:xfrm>
            <a:off x="1571625" y="2591842"/>
            <a:ext cx="133350" cy="133350"/>
          </a:xfrm>
          <a:prstGeom prst="ellipse">
            <a:avLst/>
          </a:prstGeom>
          <a:solidFill>
            <a:srgbClr val="DCE4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838325" y="2458492"/>
            <a:ext cx="152971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0250" y="2544217"/>
            <a:ext cx="154322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7E45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● </a:t>
            </a:r>
            <a:pPr algn="l" indent="0" marL="0">
              <a:buNone/>
            </a:pPr>
            <a:r>
              <a:rPr lang="en-US" sz="1500" dirty="0">
                <a:solidFill>
                  <a:srgbClr val="4A5548"/>
                </a:solidFill>
                <a:highlight>
                  <a:srgbClr val="FFFFFF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edulib.efrei.fr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2025" y="3001417"/>
            <a:ext cx="16363950" cy="6228308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2025" y="3001417"/>
            <a:ext cx="16363950" cy="34420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2025" y="6433989"/>
            <a:ext cx="1636395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7" name="Text 15"/>
          <p:cNvSpPr/>
          <p:nvPr/>
        </p:nvSpPr>
        <p:spPr>
          <a:xfrm>
            <a:off x="1495425" y="3458617"/>
            <a:ext cx="157560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BIBLIOTHÈQUE ÉTUDIANTE EFREI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95425" y="3772942"/>
            <a:ext cx="15756065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b="1" spc="-31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Partagez et trouvez des ressources pédagogiques.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495425" y="4786164"/>
            <a:ext cx="686752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centralise vos fiches de cours, résumés et exercices par matière. Un espace sobre, rapide et sans superflu.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95425" y="5510064"/>
            <a:ext cx="2201019" cy="466725"/>
          </a:xfrm>
          <a:prstGeom prst="roundRect">
            <a:avLst>
              <a:gd name="adj" fmla="val 12245"/>
            </a:avLst>
          </a:prstGeom>
          <a:solidFill>
            <a:srgbClr val="2D7A4F"/>
          </a:solidFill>
          <a:ln/>
        </p:spPr>
      </p:sp>
      <p:sp>
        <p:nvSpPr>
          <p:cNvPr id="21" name="Text 19"/>
          <p:cNvSpPr/>
          <p:nvPr/>
        </p:nvSpPr>
        <p:spPr>
          <a:xfrm>
            <a:off x="1724025" y="5624364"/>
            <a:ext cx="182001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Voir les ressources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829794" y="5510064"/>
            <a:ext cx="2543621" cy="466725"/>
          </a:xfrm>
          <a:prstGeom prst="roundRect">
            <a:avLst>
              <a:gd name="adj" fmla="val 12245"/>
            </a:avLst>
          </a:prstGeom>
          <a:ln w="9525">
            <a:solidFill>
              <a:srgbClr val="DC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7919" y="5633889"/>
            <a:ext cx="21436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S'inscrire gratuitement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95425" y="6672114"/>
            <a:ext cx="5010150" cy="1422946"/>
          </a:xfrm>
          <a:prstGeom prst="roundRect">
            <a:avLst>
              <a:gd name="adj" fmla="val 5355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76400" y="6853089"/>
            <a:ext cx="1161306" cy="2286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6" name="Text 24"/>
          <p:cNvSpPr/>
          <p:nvPr/>
        </p:nvSpPr>
        <p:spPr>
          <a:xfrm>
            <a:off x="1771650" y="6891189"/>
            <a:ext cx="10470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Mathématiques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76400" y="7157889"/>
            <a:ext cx="47876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Algèbre linéaire — vecteurs propres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76400" y="7472214"/>
            <a:ext cx="478764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Fiche sur la diagonalisation, exemples corrigés.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76400" y="7761684"/>
            <a:ext cx="7210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Mathieu 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98518" y="7761684"/>
            <a:ext cx="4022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mai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38925" y="6672114"/>
            <a:ext cx="5010150" cy="1422946"/>
          </a:xfrm>
          <a:prstGeom prst="roundRect">
            <a:avLst>
              <a:gd name="adj" fmla="val 5355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9900" y="6853089"/>
            <a:ext cx="998041" cy="2286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33" name="Text 31"/>
          <p:cNvSpPr/>
          <p:nvPr/>
        </p:nvSpPr>
        <p:spPr>
          <a:xfrm>
            <a:off x="6915150" y="6891189"/>
            <a:ext cx="8837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Informatique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19900" y="7157889"/>
            <a:ext cx="47876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Structures de données récursives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19900" y="7472214"/>
            <a:ext cx="478764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Listes chaînées, arbres binaires, complexité.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19900" y="7761684"/>
            <a:ext cx="5877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Elodie F.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142018" y="7761684"/>
            <a:ext cx="4022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 mai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782425" y="6672114"/>
            <a:ext cx="5010150" cy="1422946"/>
          </a:xfrm>
          <a:prstGeom prst="roundRect">
            <a:avLst>
              <a:gd name="adj" fmla="val 5355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963400" y="6853089"/>
            <a:ext cx="998190" cy="2286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40" name="Text 38"/>
          <p:cNvSpPr/>
          <p:nvPr/>
        </p:nvSpPr>
        <p:spPr>
          <a:xfrm>
            <a:off x="12058650" y="6891189"/>
            <a:ext cx="8838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Électronique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963400" y="7157889"/>
            <a:ext cx="47876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Filtres passe-bas — Bode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1963400" y="7472214"/>
            <a:ext cx="478764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Diagramme de Bode, fréquence de coupure, R-C.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963400" y="7761684"/>
            <a:ext cx="7608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Setheary V.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6211252" y="7761684"/>
            <a:ext cx="4765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 avr.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9603" y="514350"/>
            <a:ext cx="34668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16 · PARCOURS DÉMO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 QUE NOUS ALLONS MONTRER EN LIVE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Parcours de la démo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ÉTAPE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4925" y="2934742"/>
            <a:ext cx="24650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Inscription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4925" y="3468142"/>
            <a:ext cx="24650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Validation serveur, hash bcrypt, session créée, redirection dashboard.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274790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7215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ÉTAPE 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7215" y="2934742"/>
            <a:ext cx="24650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Dépôt de ressource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627215" y="3811042"/>
            <a:ext cx="24650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Choix brouillon / publié, catégorie. CSRF token vérifié.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597080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9505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ÉTAPE 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49505" y="2934742"/>
            <a:ext cx="24650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Recherche &amp; filtre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949505" y="3811042"/>
            <a:ext cx="24650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Plein texte + catégorie. Une seule requête JOIN, pagination 12 / page.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919371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71796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ÉTAPE 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271796" y="2934742"/>
            <a:ext cx="24650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Vote &amp; commentaire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71796" y="3811042"/>
            <a:ext cx="24650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Toggle endpoint POST. Clé primaire composite — anti double-vote.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4241661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94086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ÉTAPE 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594086" y="2934742"/>
            <a:ext cx="24650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Espace admin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594086" y="3468142"/>
            <a:ext cx="246504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Statistiques, actions groupées, suppression d'utilisateur avec confirmation.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50107" y="514350"/>
            <a:ext cx="34869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17 · IMPLÉMENTATION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UNE SEULE REQUÊTE JOIN — PAGINATION PARAMÉTRÉE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CRUD ressources, sans N+1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8829229" cy="7152233"/>
          </a:xfrm>
          <a:prstGeom prst="roundRect">
            <a:avLst>
              <a:gd name="adj" fmla="val 1598"/>
            </a:avLst>
          </a:prstGeom>
          <a:solidFill>
            <a:srgbClr val="0F141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391817"/>
            <a:ext cx="8408305" cy="658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7A887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 resources.php — recherche + filtre + pagination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88C9A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$where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= 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'(r.status = "published" OR r.auteur_id = ?)'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];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88C9A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$params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= [current_user()[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'id'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] ?? 0];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88C9A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if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($cat_id)  { $where[] =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'r.categorie_id = ?'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;       $params[] = $cat_id; }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88C9A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if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($search)  { $where[] =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'(r.titre LIKE ? OR r.description LIKE ?)'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;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      $params[] = 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"%$search%"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; $params[] =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"%$search%"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; }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88C9A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$stmt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= db()-&gt;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88C9A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prepare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SELECT r.*, c.nom AS cat_nom, u.prenom, u.nom AS auteur_nom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FROM   resources r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JOIN   categories c ON r.categorie_id = c.id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JOIN   users      u ON r.auteur_id    = u.id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WHERE  $where_sql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ORDER  BY r.created_at DESC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LIMIT  $per_page OFFSET $offset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B86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 </a:t>
            </a:r>
            <a:endParaRPr lang="en-US" sz="16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6F2EC"/>
                </a:solidFill>
                <a:highlight>
                  <a:srgbClr val="0F1410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);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543729" y="3336280"/>
            <a:ext cx="6995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Pourquoi c'est sobre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905679" y="3936355"/>
            <a:ext cx="66335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Une seule requête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ramène ressource + catégorie + auteur.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05679" y="5056436"/>
            <a:ext cx="663357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N+1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aucun ORM magique.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05679" y="5749826"/>
            <a:ext cx="663357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Paramètres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préparés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jamais concaténés.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05679" y="6443216"/>
            <a:ext cx="663357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LIMIT/OFFSET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systématique.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05679" y="7136606"/>
            <a:ext cx="66335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Index sur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categorie_id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auteur_id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created_at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37147" y="514350"/>
            <a:ext cx="23745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 · SÉCURITÉ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AU-DELÀ DU MINIMUM EXIGÉ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Sécurité — OWASP Top 10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662238"/>
            <a:ext cx="491490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20367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MENACE OWASP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67400" y="2662238"/>
            <a:ext cx="1146810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9" name="Text 7"/>
          <p:cNvSpPr/>
          <p:nvPr/>
        </p:nvSpPr>
        <p:spPr>
          <a:xfrm>
            <a:off x="6057900" y="2220367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MESURE MISE EN PLACE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256508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814638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A01 — Broken Access Control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67400" y="3256508"/>
            <a:ext cx="114681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3" name="Text 11"/>
          <p:cNvSpPr/>
          <p:nvPr/>
        </p:nvSpPr>
        <p:spPr>
          <a:xfrm>
            <a:off x="6057900" y="2814638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require_login()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require_admin()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 tête de chaque page protégée — 403 explicite.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3841254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399383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A02 — Cryptographic Failures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67400" y="3841254"/>
            <a:ext cx="114681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7" name="Text 15"/>
          <p:cNvSpPr/>
          <p:nvPr/>
        </p:nvSpPr>
        <p:spPr>
          <a:xfrm>
            <a:off x="6057900" y="3399383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Mots de passe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bcrypt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(coût 12). Aucun secret en dur, tout dans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.env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4426000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84129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A03 — Injection SQL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867400" y="4426000"/>
            <a:ext cx="114681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1" name="Text 19"/>
          <p:cNvSpPr/>
          <p:nvPr/>
        </p:nvSpPr>
        <p:spPr>
          <a:xfrm>
            <a:off x="6057900" y="3984129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100 % requêtes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PDO préparées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ATTR_EMULATE_PREPARES = false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5010745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568875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A03 — Injection XSS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67400" y="5010745"/>
            <a:ext cx="114681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5" name="Text 23"/>
          <p:cNvSpPr/>
          <p:nvPr/>
        </p:nvSpPr>
        <p:spPr>
          <a:xfrm>
            <a:off x="6057900" y="4568875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Helper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e()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htmlspecialchars(ENT_QUOTES, UTF-8)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systématique.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5595491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5153620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A05 — Security Misconfiguration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867400" y="5595491"/>
            <a:ext cx="114681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9" name="Text 27"/>
          <p:cNvSpPr/>
          <p:nvPr/>
        </p:nvSpPr>
        <p:spPr>
          <a:xfrm>
            <a:off x="6057900" y="5153620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Cookie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HttpOnly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SameSite=Strict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session_regenerate_id()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 login.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6180237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5738366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A07 — Auth Failures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867400" y="6180237"/>
            <a:ext cx="114681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3" name="Text 31"/>
          <p:cNvSpPr/>
          <p:nvPr/>
        </p:nvSpPr>
        <p:spPr>
          <a:xfrm>
            <a:off x="6057900" y="5738366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Rate limiting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 IP — 5 tentatives / 15 min, table dédiée.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52500" y="6764982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" y="6323112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A08 — CSRF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867400" y="6764982"/>
            <a:ext cx="114681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7" name="Text 35"/>
          <p:cNvSpPr/>
          <p:nvPr/>
        </p:nvSpPr>
        <p:spPr>
          <a:xfrm>
            <a:off x="6057900" y="6323112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Token 32 octets injecté sur tout POST, vérifié avec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hash_equals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(timing-safe).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43000" y="6907857"/>
            <a:ext cx="46813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 Redirect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57900" y="6907857"/>
            <a:ext cx="1143114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?redirect=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n'est suivi que s'il commence par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et pas par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//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16485" y="952500"/>
            <a:ext cx="219521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FFFFF">
                    <a:alpha val="1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6667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PARTIE 4 — 3 MINUTES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6972300"/>
            <a:ext cx="168744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Empreinte carbone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52500" y="8420100"/>
            <a:ext cx="137350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Protocole imposé : mesure initiale, identification des sources, optimisations, mesure finale, comparaison.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39651" y="514350"/>
            <a:ext cx="3806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 · OUTILS DE MESURE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OUTILS MOBILISÉS — MINIMUM REQUIS : 2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Outils utilisés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5232350" cy="7152233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9225" y="2515642"/>
            <a:ext cx="1256109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8" name="Text 6"/>
          <p:cNvSpPr/>
          <p:nvPr/>
        </p:nvSpPr>
        <p:spPr>
          <a:xfrm>
            <a:off x="1609725" y="2591842"/>
            <a:ext cx="9513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Outil 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9225" y="3106192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Website Carbon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19225" y="3477667"/>
            <a:ext cx="442786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Estimation de l'empreinte CO₂ par visite de page.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9225" y="7496175"/>
            <a:ext cx="44278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0,08 g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419225" y="8486775"/>
            <a:ext cx="44278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CO₂ PAR VISITE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6527750" y="2087017"/>
            <a:ext cx="5232350" cy="7152233"/>
          </a:xfrm>
          <a:prstGeom prst="roundRect">
            <a:avLst>
              <a:gd name="adj" fmla="val 2184"/>
            </a:avLst>
          </a:prstGeom>
          <a:solidFill>
            <a:srgbClr val="E6F2EC"/>
          </a:solidFill>
          <a:ln w="9525">
            <a:solidFill>
              <a:srgbClr val="C8E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4475" y="2515642"/>
            <a:ext cx="1256109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184975" y="2591842"/>
            <a:ext cx="9513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Outil 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4475" y="3106192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EcoIndex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6994475" y="3477667"/>
            <a:ext cx="442786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Note A→G basée sur poids, requêtes et complexité du DOM.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94475" y="7267575"/>
            <a:ext cx="442786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270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6994475" y="8486775"/>
            <a:ext cx="44278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NOTE · 94 / 100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2103001" y="2087017"/>
            <a:ext cx="5232350" cy="7152233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69726" y="2515642"/>
            <a:ext cx="1256109" cy="419100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2" name="Text 20"/>
          <p:cNvSpPr/>
          <p:nvPr/>
        </p:nvSpPr>
        <p:spPr>
          <a:xfrm>
            <a:off x="12760226" y="2591842"/>
            <a:ext cx="9513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C4A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Outil 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569726" y="3106192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Lighthouse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2569726" y="3477667"/>
            <a:ext cx="442786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Performance · Accessibilité · Best Practices · SEO.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569726" y="7496175"/>
            <a:ext cx="44278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2569726" y="8486775"/>
            <a:ext cx="44278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PERFORMANCE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42963" y="514350"/>
            <a:ext cx="34943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21 · MESURE INITIALE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MESURE INITIALE — PREMIÈRE ITÉRATION DU SITE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Sources de pollution identifiées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90650" y="2087017"/>
            <a:ext cx="76066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Police Google Fonts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 — ~80 Ko + 1 requête tierce avec cookie.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90650" y="3207097"/>
            <a:ext cx="76066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Image hero PNG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 compressée — ~340 Ko.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90650" y="3900488"/>
            <a:ext cx="76066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appels SQL séparés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sur la page d'accueil (statistiques + ressources).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90650" y="5020568"/>
            <a:ext cx="76066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Animations CSS décoratives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(fade-in, hover) sans valeur fonctionnelle.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90650" y="6140648"/>
            <a:ext cx="76066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cache HTTP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rechargement complet à chaque visite.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0" y="2087017"/>
            <a:ext cx="7810500" cy="7152233"/>
          </a:xfrm>
          <a:prstGeom prst="roundRect">
            <a:avLst>
              <a:gd name="adj" fmla="val 1598"/>
            </a:avLst>
          </a:prstGeom>
          <a:solidFill>
            <a:srgbClr val="FDF0EF"/>
          </a:solidFill>
          <a:ln w="9525">
            <a:solidFill>
              <a:srgbClr val="F4C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1725" y="3672334"/>
            <a:ext cx="70833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VERDICT AVANT OPTIMISATION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91725" y="4167634"/>
            <a:ext cx="708336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b="1" spc="-360" kern="0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540 Ko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9991725" y="5767834"/>
            <a:ext cx="70833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POIDS TOTAL ACCUEIL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91725" y="6491734"/>
            <a:ext cx="285201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80" kern="0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9991725" y="7329934"/>
            <a:ext cx="28520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REQUÊTES HTTP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103572" y="6491734"/>
            <a:ext cx="319953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80" kern="0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3103572" y="7329934"/>
            <a:ext cx="31995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ECOINDEX · 63/100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23653" y="514350"/>
            <a:ext cx="32052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22 · OPTIMISATIONS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DÉCISIONS DE CONCEPTION — PAS DES MICRO-OPTIMISATIONS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Optimisations appliquées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4925" y="2934742"/>
            <a:ext cx="24650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Suppression Google Fonts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4925" y="3811042"/>
            <a:ext cx="24650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Passage à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system-ui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304925" y="8429625"/>
            <a:ext cx="2388840" cy="4191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11" name="Text 9"/>
          <p:cNvSpPr/>
          <p:nvPr/>
        </p:nvSpPr>
        <p:spPr>
          <a:xfrm>
            <a:off x="1495425" y="8505825"/>
            <a:ext cx="2084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− 80 Ko · − 1 req.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74790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7215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7215" y="2934742"/>
            <a:ext cx="24650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Suppression des images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627215" y="3811042"/>
            <a:ext cx="246504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d'accueil 100 % typographique.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627215" y="8429625"/>
            <a:ext cx="2388840" cy="4191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17" name="Text 15"/>
          <p:cNvSpPr/>
          <p:nvPr/>
        </p:nvSpPr>
        <p:spPr>
          <a:xfrm>
            <a:off x="4817715" y="8505825"/>
            <a:ext cx="2084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− 340 Ko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97080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9505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49505" y="2934742"/>
            <a:ext cx="24650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Regroupement SQL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949505" y="3811042"/>
            <a:ext cx="24650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Statistiques en une seule requête (sous-requêtes scalaires).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949505" y="8429625"/>
            <a:ext cx="2388840" cy="4191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23" name="Text 21"/>
          <p:cNvSpPr/>
          <p:nvPr/>
        </p:nvSpPr>
        <p:spPr>
          <a:xfrm>
            <a:off x="8140005" y="8505825"/>
            <a:ext cx="2084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→ 1 requête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919371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71796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271796" y="2934742"/>
            <a:ext cx="24650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Cache HTTP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1271796" y="3468142"/>
            <a:ext cx="24650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ETag + Cache-Control sur les fiches — 304 Not Modified.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271796" y="8162925"/>
            <a:ext cx="2388840" cy="6858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29" name="Text 27"/>
          <p:cNvSpPr/>
          <p:nvPr/>
        </p:nvSpPr>
        <p:spPr>
          <a:xfrm>
            <a:off x="11462296" y="8239125"/>
            <a:ext cx="20840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2ᵉ chargement = 0 Ko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241661" y="2087017"/>
            <a:ext cx="3093690" cy="7152233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594086" y="2477542"/>
            <a:ext cx="2465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594086" y="2934742"/>
            <a:ext cx="24650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Suppression animations &amp; JS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4594086" y="3811042"/>
            <a:ext cx="24650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Seul JS restant : 10 lignes pour le « select all » admin.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4594086" y="8429625"/>
            <a:ext cx="2388840" cy="4191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35" name="Text 33"/>
          <p:cNvSpPr/>
          <p:nvPr/>
        </p:nvSpPr>
        <p:spPr>
          <a:xfrm>
            <a:off x="14784586" y="8505825"/>
            <a:ext cx="20840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≈ 10 lignes JS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95537" y="514350"/>
            <a:ext cx="31311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23 · AVANT / APRÈS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TABLEAU DE COMPARAISON SUR LA PAGE D'ACCUEIL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Avant / Après — gains mesurés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738438"/>
            <a:ext cx="655320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258467"/>
            <a:ext cx="62925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INDICATEUR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505700" y="2738438"/>
            <a:ext cx="327660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9" name="Text 7"/>
          <p:cNvSpPr/>
          <p:nvPr/>
        </p:nvSpPr>
        <p:spPr>
          <a:xfrm>
            <a:off x="7636002" y="2258467"/>
            <a:ext cx="29176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AVANT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82300" y="2738438"/>
            <a:ext cx="327660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1" name="Text 9"/>
          <p:cNvSpPr/>
          <p:nvPr/>
        </p:nvSpPr>
        <p:spPr>
          <a:xfrm>
            <a:off x="10912602" y="2258467"/>
            <a:ext cx="29176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APRÈS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058900" y="2738438"/>
            <a:ext cx="327660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3" name="Text 11"/>
          <p:cNvSpPr/>
          <p:nvPr/>
        </p:nvSpPr>
        <p:spPr>
          <a:xfrm>
            <a:off x="14189202" y="2258467"/>
            <a:ext cx="29176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3434655"/>
            <a:ext cx="65532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2928938"/>
            <a:ext cx="62925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Poids de la page d'accueil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505700" y="3434655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7" name="Text 15"/>
          <p:cNvSpPr/>
          <p:nvPr/>
        </p:nvSpPr>
        <p:spPr>
          <a:xfrm>
            <a:off x="7636002" y="2928938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540 Ko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782300" y="3434655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9" name="Text 17"/>
          <p:cNvSpPr/>
          <p:nvPr/>
        </p:nvSpPr>
        <p:spPr>
          <a:xfrm>
            <a:off x="10912602" y="2928938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 Ko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058900" y="3434655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1" name="Text 19"/>
          <p:cNvSpPr/>
          <p:nvPr/>
        </p:nvSpPr>
        <p:spPr>
          <a:xfrm>
            <a:off x="14189202" y="2928938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− 94 %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4121348"/>
            <a:ext cx="65532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3615630"/>
            <a:ext cx="62925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Nombre de requêtes HTTP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7505700" y="4121348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5" name="Text 23"/>
          <p:cNvSpPr/>
          <p:nvPr/>
        </p:nvSpPr>
        <p:spPr>
          <a:xfrm>
            <a:off x="7636002" y="3615630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782300" y="4121348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7" name="Text 25"/>
          <p:cNvSpPr/>
          <p:nvPr/>
        </p:nvSpPr>
        <p:spPr>
          <a:xfrm>
            <a:off x="10912602" y="3615630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4058900" y="4121348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9" name="Text 27"/>
          <p:cNvSpPr/>
          <p:nvPr/>
        </p:nvSpPr>
        <p:spPr>
          <a:xfrm>
            <a:off x="14189202" y="3615630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− 86 %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52500" y="4808041"/>
            <a:ext cx="65532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1" name="Text 29"/>
          <p:cNvSpPr/>
          <p:nvPr/>
        </p:nvSpPr>
        <p:spPr>
          <a:xfrm>
            <a:off x="1181100" y="4302323"/>
            <a:ext cx="62925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EcoIndex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7505700" y="4808041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3" name="Text 31"/>
          <p:cNvSpPr/>
          <p:nvPr/>
        </p:nvSpPr>
        <p:spPr>
          <a:xfrm>
            <a:off x="7636002" y="4302323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63 / 100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782300" y="4808041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5" name="Text 33"/>
          <p:cNvSpPr/>
          <p:nvPr/>
        </p:nvSpPr>
        <p:spPr>
          <a:xfrm>
            <a:off x="10912602" y="4302323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94 / 100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4058900" y="4808041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7" name="Text 35"/>
          <p:cNvSpPr/>
          <p:nvPr/>
        </p:nvSpPr>
        <p:spPr>
          <a:xfrm>
            <a:off x="14189202" y="4302323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+ 31 pts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52500" y="5494734"/>
            <a:ext cx="65532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9" name="Text 37"/>
          <p:cNvSpPr/>
          <p:nvPr/>
        </p:nvSpPr>
        <p:spPr>
          <a:xfrm>
            <a:off x="1181100" y="4989016"/>
            <a:ext cx="62925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Note EcoIndex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7505700" y="5494734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1" name="Text 39"/>
          <p:cNvSpPr/>
          <p:nvPr/>
        </p:nvSpPr>
        <p:spPr>
          <a:xfrm>
            <a:off x="7636002" y="4989016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0782300" y="5494734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3" name="Text 41"/>
          <p:cNvSpPr/>
          <p:nvPr/>
        </p:nvSpPr>
        <p:spPr>
          <a:xfrm>
            <a:off x="10912602" y="4989016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4058900" y="5494734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5" name="Text 43"/>
          <p:cNvSpPr/>
          <p:nvPr/>
        </p:nvSpPr>
        <p:spPr>
          <a:xfrm>
            <a:off x="14189202" y="4989016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+ 3 niveaux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952500" y="6181427"/>
            <a:ext cx="65532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7" name="Text 45"/>
          <p:cNvSpPr/>
          <p:nvPr/>
        </p:nvSpPr>
        <p:spPr>
          <a:xfrm>
            <a:off x="1181100" y="5675709"/>
            <a:ext cx="62925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CO₂ par visite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7505700" y="6181427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9" name="Text 47"/>
          <p:cNvSpPr/>
          <p:nvPr/>
        </p:nvSpPr>
        <p:spPr>
          <a:xfrm>
            <a:off x="7636002" y="5675709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1,12 g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0782300" y="6181427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1" name="Text 49"/>
          <p:cNvSpPr/>
          <p:nvPr/>
        </p:nvSpPr>
        <p:spPr>
          <a:xfrm>
            <a:off x="10912602" y="5675709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0,08 g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4058900" y="6181427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3" name="Text 51"/>
          <p:cNvSpPr/>
          <p:nvPr/>
        </p:nvSpPr>
        <p:spPr>
          <a:xfrm>
            <a:off x="14189202" y="5675709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− 93 %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952500" y="6868120"/>
            <a:ext cx="65532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5" name="Text 53"/>
          <p:cNvSpPr/>
          <p:nvPr/>
        </p:nvSpPr>
        <p:spPr>
          <a:xfrm>
            <a:off x="1181100" y="6362402"/>
            <a:ext cx="62925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Lighthouse Perf.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7505700" y="6868120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7" name="Text 55"/>
          <p:cNvSpPr/>
          <p:nvPr/>
        </p:nvSpPr>
        <p:spPr>
          <a:xfrm>
            <a:off x="7636002" y="6362402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78 / 100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0782300" y="6868120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9" name="Text 57"/>
          <p:cNvSpPr/>
          <p:nvPr/>
        </p:nvSpPr>
        <p:spPr>
          <a:xfrm>
            <a:off x="10912602" y="6362402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 / 100</a:t>
            </a:r>
            <a:endParaRPr lang="en-US" sz="1950" dirty="0"/>
          </a:p>
        </p:txBody>
      </p:sp>
      <p:sp>
        <p:nvSpPr>
          <p:cNvPr id="60" name="Shape 58"/>
          <p:cNvSpPr/>
          <p:nvPr/>
        </p:nvSpPr>
        <p:spPr>
          <a:xfrm>
            <a:off x="14058900" y="6868120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1" name="Text 59"/>
          <p:cNvSpPr/>
          <p:nvPr/>
        </p:nvSpPr>
        <p:spPr>
          <a:xfrm>
            <a:off x="14189202" y="6362402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+ 21 pts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952500" y="7554813"/>
            <a:ext cx="65532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3" name="Text 61"/>
          <p:cNvSpPr/>
          <p:nvPr/>
        </p:nvSpPr>
        <p:spPr>
          <a:xfrm>
            <a:off x="1181100" y="7049095"/>
            <a:ext cx="62925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First Contentful Paint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7505700" y="7554813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5" name="Text 63"/>
          <p:cNvSpPr/>
          <p:nvPr/>
        </p:nvSpPr>
        <p:spPr>
          <a:xfrm>
            <a:off x="7636002" y="7049095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2,1 s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10782300" y="7554813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7" name="Text 65"/>
          <p:cNvSpPr/>
          <p:nvPr/>
        </p:nvSpPr>
        <p:spPr>
          <a:xfrm>
            <a:off x="10912602" y="7049095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0,4 s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14058900" y="7554813"/>
            <a:ext cx="32766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69" name="Text 67"/>
          <p:cNvSpPr/>
          <p:nvPr/>
        </p:nvSpPr>
        <p:spPr>
          <a:xfrm>
            <a:off x="14189202" y="7049095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− 81 %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1181100" y="7735788"/>
            <a:ext cx="62925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Largest Contentful Paint</a:t>
            </a:r>
            <a:endParaRPr lang="en-US" sz="1950" dirty="0"/>
          </a:p>
        </p:txBody>
      </p:sp>
      <p:sp>
        <p:nvSpPr>
          <p:cNvPr id="71" name="Text 69"/>
          <p:cNvSpPr/>
          <p:nvPr/>
        </p:nvSpPr>
        <p:spPr>
          <a:xfrm>
            <a:off x="7636002" y="7735788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2,9 s</a:t>
            </a:r>
            <a:endParaRPr lang="en-US" sz="1950" dirty="0"/>
          </a:p>
        </p:txBody>
      </p:sp>
      <p:sp>
        <p:nvSpPr>
          <p:cNvPr id="72" name="Text 70"/>
          <p:cNvSpPr/>
          <p:nvPr/>
        </p:nvSpPr>
        <p:spPr>
          <a:xfrm>
            <a:off x="10912602" y="7735788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0,7 s</a:t>
            </a:r>
            <a:endParaRPr lang="en-US" sz="1950" dirty="0"/>
          </a:p>
        </p:txBody>
      </p:sp>
      <p:sp>
        <p:nvSpPr>
          <p:cNvPr id="73" name="Text 71"/>
          <p:cNvSpPr/>
          <p:nvPr/>
        </p:nvSpPr>
        <p:spPr>
          <a:xfrm>
            <a:off x="14189202" y="7735788"/>
            <a:ext cx="291769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− 76 %</a:t>
            </a:r>
            <a:endParaRPr lang="en-US" sz="1950" dirty="0"/>
          </a:p>
        </p:txBody>
      </p:sp>
      <p:sp>
        <p:nvSpPr>
          <p:cNvPr id="74" name="Text 72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61604" y="514350"/>
            <a:ext cx="3166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 · VISUALISATION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À L'ÉCHELLE — PROPORTIONS RÉELLES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L'écart, en barres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2087017"/>
            <a:ext cx="36522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Poids de la page d'accueil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557575" y="2115592"/>
            <a:ext cx="854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− 94 %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2544217"/>
            <a:ext cx="16383000" cy="342900"/>
          </a:xfrm>
          <a:prstGeom prst="roundRect">
            <a:avLst>
              <a:gd name="adj" fmla="val 16667"/>
            </a:avLst>
          </a:prstGeom>
          <a:solidFill>
            <a:srgbClr val="4A5548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2544217"/>
            <a:ext cx="165696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540 Ko · avant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2500" y="2982367"/>
            <a:ext cx="982861" cy="342900"/>
          </a:xfrm>
          <a:prstGeom prst="roundRect">
            <a:avLst>
              <a:gd name="adj" fmla="val 16667"/>
            </a:avLst>
          </a:prstGeom>
          <a:solidFill>
            <a:srgbClr val="2D7A4F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2982367"/>
            <a:ext cx="7542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 Ko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52500" y="3668167"/>
            <a:ext cx="21880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Requêtes HTTP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557575" y="3696742"/>
            <a:ext cx="854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− 86 %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" y="4125367"/>
            <a:ext cx="16383000" cy="342900"/>
          </a:xfrm>
          <a:prstGeom prst="roundRect">
            <a:avLst>
              <a:gd name="adj" fmla="val 16667"/>
            </a:avLst>
          </a:prstGeom>
          <a:solidFill>
            <a:srgbClr val="4A5548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4125367"/>
            <a:ext cx="165696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 requêtes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4563517"/>
            <a:ext cx="2293590" cy="342900"/>
          </a:xfrm>
          <a:prstGeom prst="roundRect">
            <a:avLst>
              <a:gd name="adj" fmla="val 16667"/>
            </a:avLst>
          </a:prstGeom>
          <a:solidFill>
            <a:srgbClr val="2D7A4F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4563517"/>
            <a:ext cx="2064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52500" y="5249317"/>
            <a:ext cx="19246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CO₂ par visite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6557575" y="5277892"/>
            <a:ext cx="854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− 93 %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5706517"/>
            <a:ext cx="16383000" cy="342900"/>
          </a:xfrm>
          <a:prstGeom prst="roundRect">
            <a:avLst>
              <a:gd name="adj" fmla="val 16667"/>
            </a:avLst>
          </a:prstGeom>
          <a:solidFill>
            <a:srgbClr val="4A5548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" y="5706517"/>
            <a:ext cx="165696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1,12 g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52500" y="6144667"/>
            <a:ext cx="1146721" cy="342900"/>
          </a:xfrm>
          <a:prstGeom prst="roundRect">
            <a:avLst>
              <a:gd name="adj" fmla="val 16667"/>
            </a:avLst>
          </a:prstGeom>
          <a:solidFill>
            <a:srgbClr val="2D7A4F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6144667"/>
            <a:ext cx="9181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0,08 g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52500" y="6830467"/>
            <a:ext cx="341751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Largest Contentful Paint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6557575" y="6859042"/>
            <a:ext cx="854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− 76 %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52500" y="7287667"/>
            <a:ext cx="16383000" cy="342900"/>
          </a:xfrm>
          <a:prstGeom prst="roundRect">
            <a:avLst>
              <a:gd name="adj" fmla="val 16667"/>
            </a:avLst>
          </a:prstGeom>
          <a:solidFill>
            <a:srgbClr val="4A5548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7287667"/>
            <a:ext cx="165696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2,9 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52500" y="7725817"/>
            <a:ext cx="3931890" cy="342900"/>
          </a:xfrm>
          <a:prstGeom prst="roundRect">
            <a:avLst>
              <a:gd name="adj" fmla="val 16667"/>
            </a:avLst>
          </a:prstGeom>
          <a:solidFill>
            <a:srgbClr val="2D7A4F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7725817"/>
            <a:ext cx="37450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0,7 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7493" y="514350"/>
            <a:ext cx="44269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 · COMPARAISON MARCHÉ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D'ACCUEIL — MESURES DANS LES MÊMES CONDITIONS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vs StuDocu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738438"/>
            <a:ext cx="491490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258467"/>
            <a:ext cx="46051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INDICATEUR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67400" y="2738438"/>
            <a:ext cx="4864447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9" name="Text 7"/>
          <p:cNvSpPr/>
          <p:nvPr/>
        </p:nvSpPr>
        <p:spPr>
          <a:xfrm>
            <a:off x="5950067" y="2258467"/>
            <a:ext cx="455318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STUDOCU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731847" y="2738438"/>
            <a:ext cx="2910036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1" name="Text 9"/>
          <p:cNvSpPr/>
          <p:nvPr/>
        </p:nvSpPr>
        <p:spPr>
          <a:xfrm>
            <a:off x="10873146" y="2258467"/>
            <a:ext cx="254013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641884" y="2738438"/>
            <a:ext cx="3693616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3" name="Text 11"/>
          <p:cNvSpPr/>
          <p:nvPr/>
        </p:nvSpPr>
        <p:spPr>
          <a:xfrm>
            <a:off x="13759675" y="2258467"/>
            <a:ext cx="334722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ÉCART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3434655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2928938"/>
            <a:ext cx="460514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Poids de la page d'accueil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867400" y="3434655"/>
            <a:ext cx="486444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7" name="Text 15"/>
          <p:cNvSpPr/>
          <p:nvPr/>
        </p:nvSpPr>
        <p:spPr>
          <a:xfrm>
            <a:off x="5950067" y="2928938"/>
            <a:ext cx="455318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≈ 4 200 Ko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731847" y="3434655"/>
            <a:ext cx="291003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9" name="Text 17"/>
          <p:cNvSpPr/>
          <p:nvPr/>
        </p:nvSpPr>
        <p:spPr>
          <a:xfrm>
            <a:off x="10873146" y="2928938"/>
            <a:ext cx="254013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≈ 32 Ko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3641884" y="3434655"/>
            <a:ext cx="369361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1" name="Text 19"/>
          <p:cNvSpPr/>
          <p:nvPr/>
        </p:nvSpPr>
        <p:spPr>
          <a:xfrm>
            <a:off x="13759675" y="2928938"/>
            <a:ext cx="334722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÷ 131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4121348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3615630"/>
            <a:ext cx="460514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Requêtes HTTP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867400" y="4121348"/>
            <a:ext cx="486444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5" name="Text 23"/>
          <p:cNvSpPr/>
          <p:nvPr/>
        </p:nvSpPr>
        <p:spPr>
          <a:xfrm>
            <a:off x="5950067" y="3615630"/>
            <a:ext cx="455318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184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731847" y="4121348"/>
            <a:ext cx="291003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7" name="Text 25"/>
          <p:cNvSpPr/>
          <p:nvPr/>
        </p:nvSpPr>
        <p:spPr>
          <a:xfrm>
            <a:off x="10873146" y="3615630"/>
            <a:ext cx="254013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641884" y="4121348"/>
            <a:ext cx="369361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9" name="Text 27"/>
          <p:cNvSpPr/>
          <p:nvPr/>
        </p:nvSpPr>
        <p:spPr>
          <a:xfrm>
            <a:off x="13759675" y="3615630"/>
            <a:ext cx="334722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÷ 92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52500" y="4808041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1" name="Text 29"/>
          <p:cNvSpPr/>
          <p:nvPr/>
        </p:nvSpPr>
        <p:spPr>
          <a:xfrm>
            <a:off x="1181100" y="4302323"/>
            <a:ext cx="460514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Cookies tiers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5867400" y="4808041"/>
            <a:ext cx="486444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3" name="Text 31"/>
          <p:cNvSpPr/>
          <p:nvPr/>
        </p:nvSpPr>
        <p:spPr>
          <a:xfrm>
            <a:off x="5950067" y="4302323"/>
            <a:ext cx="455318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≈ 25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731847" y="4808041"/>
            <a:ext cx="291003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5" name="Text 33"/>
          <p:cNvSpPr/>
          <p:nvPr/>
        </p:nvSpPr>
        <p:spPr>
          <a:xfrm>
            <a:off x="10873146" y="4302323"/>
            <a:ext cx="254013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3641884" y="4808041"/>
            <a:ext cx="369361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7" name="Text 35"/>
          <p:cNvSpPr/>
          <p:nvPr/>
        </p:nvSpPr>
        <p:spPr>
          <a:xfrm>
            <a:off x="13759675" y="4302323"/>
            <a:ext cx="334722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− 100 %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52500" y="5494734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9" name="Text 37"/>
          <p:cNvSpPr/>
          <p:nvPr/>
        </p:nvSpPr>
        <p:spPr>
          <a:xfrm>
            <a:off x="1181100" y="4989016"/>
            <a:ext cx="460514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Trackers détectés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5867400" y="5494734"/>
            <a:ext cx="486444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1" name="Text 39"/>
          <p:cNvSpPr/>
          <p:nvPr/>
        </p:nvSpPr>
        <p:spPr>
          <a:xfrm>
            <a:off x="5950067" y="4989016"/>
            <a:ext cx="455318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 (GA, Hotjar…)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0731847" y="5494734"/>
            <a:ext cx="291003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3" name="Text 41"/>
          <p:cNvSpPr/>
          <p:nvPr/>
        </p:nvSpPr>
        <p:spPr>
          <a:xfrm>
            <a:off x="10873146" y="4989016"/>
            <a:ext cx="254013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3641884" y="5494734"/>
            <a:ext cx="369361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5" name="Text 43"/>
          <p:cNvSpPr/>
          <p:nvPr/>
        </p:nvSpPr>
        <p:spPr>
          <a:xfrm>
            <a:off x="13759675" y="4989016"/>
            <a:ext cx="334722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− 100 %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952500" y="6181427"/>
            <a:ext cx="491490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7" name="Text 45"/>
          <p:cNvSpPr/>
          <p:nvPr/>
        </p:nvSpPr>
        <p:spPr>
          <a:xfrm>
            <a:off x="1181100" y="5675709"/>
            <a:ext cx="460514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CO₂ par visite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5867400" y="6181427"/>
            <a:ext cx="486444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9" name="Text 47"/>
          <p:cNvSpPr/>
          <p:nvPr/>
        </p:nvSpPr>
        <p:spPr>
          <a:xfrm>
            <a:off x="5950067" y="5675709"/>
            <a:ext cx="455318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≈ 1,8 g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0731847" y="6181427"/>
            <a:ext cx="291003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1" name="Text 49"/>
          <p:cNvSpPr/>
          <p:nvPr/>
        </p:nvSpPr>
        <p:spPr>
          <a:xfrm>
            <a:off x="10873146" y="5675709"/>
            <a:ext cx="254013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0,08 g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3641884" y="6181427"/>
            <a:ext cx="3693616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3" name="Text 51"/>
          <p:cNvSpPr/>
          <p:nvPr/>
        </p:nvSpPr>
        <p:spPr>
          <a:xfrm>
            <a:off x="13759675" y="5675709"/>
            <a:ext cx="334722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÷ 22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181100" y="6362402"/>
            <a:ext cx="460514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Note EcoIndex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5950067" y="6362402"/>
            <a:ext cx="455318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873146" y="6362402"/>
            <a:ext cx="254013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13759675" y="6362402"/>
            <a:ext cx="334722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+ 4 niveaux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706755" y="7363420"/>
            <a:ext cx="16874490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À </a:t>
            </a:r>
            <a:pPr algn="ctr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périmètre fonctionnel comparable</a:t>
            </a:r>
            <a:pPr algn="ctr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EduLib est entre 22 et 131 fois plus sobre.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16485" y="952500"/>
            <a:ext cx="219521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FFFFF">
                    <a:alpha val="1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6667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PARTIE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6972300"/>
            <a:ext cx="168744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Tests &amp; validation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52500" y="8420100"/>
            <a:ext cx="137350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Tests fonctionnels, performances Lighthouse, vérifications de sécurité — résultats détaillés.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23677" y="514350"/>
            <a:ext cx="42351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27 · TESTS FONCTIONNELS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/ 9 SCÉNARIOS PASSÉS — ÉTAPE 6.1 DU SUJET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Tests fonctionnels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662238"/>
            <a:ext cx="557019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20367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SCÉNARIO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22690" y="2662238"/>
            <a:ext cx="851922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9" name="Text 7"/>
          <p:cNvSpPr/>
          <p:nvPr/>
        </p:nvSpPr>
        <p:spPr>
          <a:xfrm>
            <a:off x="6713190" y="2220367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RÉSULTAT ATTENDU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41910" y="2662238"/>
            <a:ext cx="229359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1" name="Text 9"/>
          <p:cNvSpPr/>
          <p:nvPr/>
        </p:nvSpPr>
        <p:spPr>
          <a:xfrm>
            <a:off x="15156210" y="2220367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STATUT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3256508"/>
            <a:ext cx="55701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814638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Créer un utilisateur valide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22690" y="3256508"/>
            <a:ext cx="851922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5" name="Text 13"/>
          <p:cNvSpPr/>
          <p:nvPr/>
        </p:nvSpPr>
        <p:spPr>
          <a:xfrm>
            <a:off x="6713190" y="2814638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Utilisateur enregistré, redirection dashboard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041910" y="3256508"/>
            <a:ext cx="22935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7" name="Text 15"/>
          <p:cNvSpPr/>
          <p:nvPr/>
        </p:nvSpPr>
        <p:spPr>
          <a:xfrm>
            <a:off x="15156210" y="2814638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3841254"/>
            <a:ext cx="55701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399383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Créer un utilisateur (email vide)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22690" y="3841254"/>
            <a:ext cx="851922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1" name="Text 19"/>
          <p:cNvSpPr/>
          <p:nvPr/>
        </p:nvSpPr>
        <p:spPr>
          <a:xfrm>
            <a:off x="6713190" y="3399383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Message d'erreur côté serveur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041910" y="3841254"/>
            <a:ext cx="22935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3" name="Text 21"/>
          <p:cNvSpPr/>
          <p:nvPr/>
        </p:nvSpPr>
        <p:spPr>
          <a:xfrm>
            <a:off x="15156210" y="3399383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4426000"/>
            <a:ext cx="55701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3984129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Modifier un utilisateur existant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22690" y="4426000"/>
            <a:ext cx="851922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7" name="Text 25"/>
          <p:cNvSpPr/>
          <p:nvPr/>
        </p:nvSpPr>
        <p:spPr>
          <a:xfrm>
            <a:off x="6713190" y="3984129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Données mises à jour en BDD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041910" y="4426000"/>
            <a:ext cx="22935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9" name="Text 27"/>
          <p:cNvSpPr/>
          <p:nvPr/>
        </p:nvSpPr>
        <p:spPr>
          <a:xfrm>
            <a:off x="15156210" y="3984129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5010745"/>
            <a:ext cx="55701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4568875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Supprimer un utilisateur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22690" y="5010745"/>
            <a:ext cx="851922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3" name="Text 31"/>
          <p:cNvSpPr/>
          <p:nvPr/>
        </p:nvSpPr>
        <p:spPr>
          <a:xfrm>
            <a:off x="6713190" y="4568875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Utilisateur supprimé après confirmation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041910" y="5010745"/>
            <a:ext cx="22935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5" name="Text 33"/>
          <p:cNvSpPr/>
          <p:nvPr/>
        </p:nvSpPr>
        <p:spPr>
          <a:xfrm>
            <a:off x="15156210" y="4568875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52500" y="5595491"/>
            <a:ext cx="55701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5153620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Lister les utilisateurs (admin)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522690" y="5595491"/>
            <a:ext cx="851922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9" name="Text 37"/>
          <p:cNvSpPr/>
          <p:nvPr/>
        </p:nvSpPr>
        <p:spPr>
          <a:xfrm>
            <a:off x="6713190" y="5153620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Affichage paginé correct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041910" y="5595491"/>
            <a:ext cx="22935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1" name="Text 39"/>
          <p:cNvSpPr/>
          <p:nvPr/>
        </p:nvSpPr>
        <p:spPr>
          <a:xfrm>
            <a:off x="15156210" y="5153620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52500" y="6180237"/>
            <a:ext cx="55701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3" name="Text 41"/>
          <p:cNvSpPr/>
          <p:nvPr/>
        </p:nvSpPr>
        <p:spPr>
          <a:xfrm>
            <a:off x="1143000" y="5738366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Créer une ressource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522690" y="6180237"/>
            <a:ext cx="851922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5" name="Text 43"/>
          <p:cNvSpPr/>
          <p:nvPr/>
        </p:nvSpPr>
        <p:spPr>
          <a:xfrm>
            <a:off x="6713190" y="5738366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Ressource enregistrée, liste mise à jour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041910" y="6180237"/>
            <a:ext cx="22935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7" name="Text 45"/>
          <p:cNvSpPr/>
          <p:nvPr/>
        </p:nvSpPr>
        <p:spPr>
          <a:xfrm>
            <a:off x="15156210" y="5738366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52500" y="6764982"/>
            <a:ext cx="55701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9" name="Text 47"/>
          <p:cNvSpPr/>
          <p:nvPr/>
        </p:nvSpPr>
        <p:spPr>
          <a:xfrm>
            <a:off x="1143000" y="6323112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Connexion identifiants valides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522690" y="6764982"/>
            <a:ext cx="851922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1" name="Text 49"/>
          <p:cNvSpPr/>
          <p:nvPr/>
        </p:nvSpPr>
        <p:spPr>
          <a:xfrm>
            <a:off x="6713190" y="6323112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Redirection vers /dashboard.php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041910" y="6764982"/>
            <a:ext cx="22935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3" name="Text 51"/>
          <p:cNvSpPr/>
          <p:nvPr/>
        </p:nvSpPr>
        <p:spPr>
          <a:xfrm>
            <a:off x="15156210" y="6323112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52500" y="7349728"/>
            <a:ext cx="55701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5" name="Text 53"/>
          <p:cNvSpPr/>
          <p:nvPr/>
        </p:nvSpPr>
        <p:spPr>
          <a:xfrm>
            <a:off x="1143000" y="6907857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Connexion mauvais mot de passe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522690" y="7349728"/>
            <a:ext cx="851922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7" name="Text 55"/>
          <p:cNvSpPr/>
          <p:nvPr/>
        </p:nvSpPr>
        <p:spPr>
          <a:xfrm>
            <a:off x="6713190" y="6907857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Erreur, pas de session, compteur incrémenté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041910" y="7349728"/>
            <a:ext cx="22935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9" name="Text 57"/>
          <p:cNvSpPr/>
          <p:nvPr/>
        </p:nvSpPr>
        <p:spPr>
          <a:xfrm>
            <a:off x="15156210" y="6907857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143000" y="7492603"/>
            <a:ext cx="53562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Accès page protégée sans connexion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713190" y="7492603"/>
            <a:ext cx="8393796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Redirection vers /login.php?redirect=…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5156210" y="7492603"/>
            <a:ext cx="19887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OK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92560" y="514350"/>
            <a:ext cx="31342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28 · PERFORMANCE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 MOBILE · THROTTLING SLOW 4G · CACHE VIDÉ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Tests Lighthouse — 3 pages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5581650" cy="748665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9225" y="2515642"/>
            <a:ext cx="47876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· ACCUEIL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9225" y="2934742"/>
            <a:ext cx="47876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/index.php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419225" y="346814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5450" y="378246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11" name="Text 9"/>
          <p:cNvSpPr/>
          <p:nvPr/>
        </p:nvSpPr>
        <p:spPr>
          <a:xfrm>
            <a:off x="2149078" y="4263479"/>
            <a:ext cx="711994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768078" y="5573167"/>
            <a:ext cx="1473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5725" y="346814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71950" y="378246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15" name="Text 13"/>
          <p:cNvSpPr/>
          <p:nvPr/>
        </p:nvSpPr>
        <p:spPr>
          <a:xfrm>
            <a:off x="4466630" y="426347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4676477" y="5573167"/>
            <a:ext cx="610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A11y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19225" y="645899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5450" y="677331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1990130" y="725432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869728" y="8564017"/>
            <a:ext cx="1270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Best Pract.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95725" y="645899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1950" y="677331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23" name="Text 21"/>
          <p:cNvSpPr/>
          <p:nvPr/>
        </p:nvSpPr>
        <p:spPr>
          <a:xfrm>
            <a:off x="4466630" y="725432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24" name="Text 22"/>
          <p:cNvSpPr/>
          <p:nvPr/>
        </p:nvSpPr>
        <p:spPr>
          <a:xfrm>
            <a:off x="4702076" y="8564017"/>
            <a:ext cx="5589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77050" y="2087017"/>
            <a:ext cx="5581650" cy="7486650"/>
          </a:xfrm>
          <a:prstGeom prst="roundRect">
            <a:avLst>
              <a:gd name="adj" fmla="val 2048"/>
            </a:avLst>
          </a:prstGeom>
          <a:solidFill>
            <a:srgbClr val="E6F2EC"/>
          </a:solidFill>
          <a:ln w="9525">
            <a:solidFill>
              <a:srgbClr val="C8E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43775" y="2515642"/>
            <a:ext cx="47876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· LISTE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343775" y="2934742"/>
            <a:ext cx="47876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/resources.php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343775" y="346814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378246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30" name="Text 28"/>
          <p:cNvSpPr/>
          <p:nvPr/>
        </p:nvSpPr>
        <p:spPr>
          <a:xfrm>
            <a:off x="8073628" y="4263479"/>
            <a:ext cx="711994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98</a:t>
            </a:r>
            <a:endParaRPr lang="en-US" sz="4500" dirty="0"/>
          </a:p>
        </p:txBody>
      </p:sp>
      <p:sp>
        <p:nvSpPr>
          <p:cNvPr id="31" name="Text 29"/>
          <p:cNvSpPr/>
          <p:nvPr/>
        </p:nvSpPr>
        <p:spPr>
          <a:xfrm>
            <a:off x="7692628" y="5573167"/>
            <a:ext cx="1473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820275" y="346814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96500" y="378246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34" name="Text 32"/>
          <p:cNvSpPr/>
          <p:nvPr/>
        </p:nvSpPr>
        <p:spPr>
          <a:xfrm>
            <a:off x="10391180" y="426347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35" name="Text 33"/>
          <p:cNvSpPr/>
          <p:nvPr/>
        </p:nvSpPr>
        <p:spPr>
          <a:xfrm>
            <a:off x="10601027" y="5573167"/>
            <a:ext cx="610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A11y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43775" y="645899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20000" y="677331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38" name="Text 36"/>
          <p:cNvSpPr/>
          <p:nvPr/>
        </p:nvSpPr>
        <p:spPr>
          <a:xfrm>
            <a:off x="7914680" y="725432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39" name="Text 37"/>
          <p:cNvSpPr/>
          <p:nvPr/>
        </p:nvSpPr>
        <p:spPr>
          <a:xfrm>
            <a:off x="7794278" y="8564017"/>
            <a:ext cx="1270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Best Pract.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820275" y="645899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96500" y="677331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42" name="Text 40"/>
          <p:cNvSpPr/>
          <p:nvPr/>
        </p:nvSpPr>
        <p:spPr>
          <a:xfrm>
            <a:off x="10391180" y="725432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43" name="Text 41"/>
          <p:cNvSpPr/>
          <p:nvPr/>
        </p:nvSpPr>
        <p:spPr>
          <a:xfrm>
            <a:off x="10626626" y="8564017"/>
            <a:ext cx="5589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SEO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2801600" y="2087017"/>
            <a:ext cx="5581650" cy="748665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268325" y="2515642"/>
            <a:ext cx="47876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· FICHE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3268325" y="2934742"/>
            <a:ext cx="47876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/resource-view.php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3268325" y="346814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44550" y="378246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49" name="Text 47"/>
          <p:cNvSpPr/>
          <p:nvPr/>
        </p:nvSpPr>
        <p:spPr>
          <a:xfrm>
            <a:off x="13839230" y="426347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50" name="Text 48"/>
          <p:cNvSpPr/>
          <p:nvPr/>
        </p:nvSpPr>
        <p:spPr>
          <a:xfrm>
            <a:off x="13617178" y="5573167"/>
            <a:ext cx="1473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744825" y="346814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021050" y="378246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53" name="Text 51"/>
          <p:cNvSpPr/>
          <p:nvPr/>
        </p:nvSpPr>
        <p:spPr>
          <a:xfrm>
            <a:off x="16315730" y="426347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54" name="Text 52"/>
          <p:cNvSpPr/>
          <p:nvPr/>
        </p:nvSpPr>
        <p:spPr>
          <a:xfrm>
            <a:off x="16525577" y="5573167"/>
            <a:ext cx="610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A11y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3268325" y="645899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544550" y="677331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57" name="Text 55"/>
          <p:cNvSpPr/>
          <p:nvPr/>
        </p:nvSpPr>
        <p:spPr>
          <a:xfrm>
            <a:off x="13839230" y="725432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58" name="Text 56"/>
          <p:cNvSpPr/>
          <p:nvPr/>
        </p:nvSpPr>
        <p:spPr>
          <a:xfrm>
            <a:off x="13718828" y="8564017"/>
            <a:ext cx="1270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Best Pract.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744825" y="6458992"/>
            <a:ext cx="2171700" cy="268605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021050" y="6773317"/>
            <a:ext cx="1619250" cy="1619250"/>
          </a:xfrm>
          <a:prstGeom prst="ellipse">
            <a:avLst/>
          </a:prstGeom>
          <a:solidFill>
            <a:srgbClr val="2D7A4F"/>
          </a:solidFill>
          <a:ln/>
        </p:spPr>
      </p:sp>
      <p:sp>
        <p:nvSpPr>
          <p:cNvPr id="61" name="Text 59"/>
          <p:cNvSpPr/>
          <p:nvPr/>
        </p:nvSpPr>
        <p:spPr>
          <a:xfrm>
            <a:off x="16315730" y="7254329"/>
            <a:ext cx="102974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</a:t>
            </a:r>
            <a:endParaRPr lang="en-US" sz="4500" dirty="0"/>
          </a:p>
        </p:txBody>
      </p:sp>
      <p:sp>
        <p:nvSpPr>
          <p:cNvPr id="62" name="Text 60"/>
          <p:cNvSpPr/>
          <p:nvPr/>
        </p:nvSpPr>
        <p:spPr>
          <a:xfrm>
            <a:off x="16551176" y="8564017"/>
            <a:ext cx="5589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SEO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61604" y="514350"/>
            <a:ext cx="3166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29 · VÉRIFICATIONS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ÉTAPE 6.3 DU SUJET — 4 / 4 VALIDÉES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Vérifications de sécurité minimales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8020050" cy="3218855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9225" y="2515642"/>
            <a:ext cx="7086600" cy="4572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8" name="Text 6"/>
          <p:cNvSpPr/>
          <p:nvPr/>
        </p:nvSpPr>
        <p:spPr>
          <a:xfrm>
            <a:off x="1609725" y="2591842"/>
            <a:ext cx="69181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Validé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9225" y="3144292"/>
            <a:ext cx="7299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mot de passe en clair en base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19225" y="3687217"/>
            <a:ext cx="729919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highlight>
                  <a:srgbClr val="F0F4F1"/>
                </a:highlight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SELECT password FROM users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toutes les valeurs en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$2y$12$…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bcrypt.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315450" y="2087017"/>
            <a:ext cx="8020050" cy="3218855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2175" y="2515642"/>
            <a:ext cx="7086600" cy="4572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13" name="Text 11"/>
          <p:cNvSpPr/>
          <p:nvPr/>
        </p:nvSpPr>
        <p:spPr>
          <a:xfrm>
            <a:off x="9972675" y="2591842"/>
            <a:ext cx="69181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Validé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2175" y="3144292"/>
            <a:ext cx="7299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Aucune variable sensible dans Git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782175" y="3687217"/>
            <a:ext cx="729919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.env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listé dans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.gitignore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.env.example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fourni avec valeurs neutres.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5648771"/>
            <a:ext cx="8020050" cy="3590479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9225" y="6077396"/>
            <a:ext cx="7086600" cy="4572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18" name="Text 16"/>
          <p:cNvSpPr/>
          <p:nvPr/>
        </p:nvSpPr>
        <p:spPr>
          <a:xfrm>
            <a:off x="1609725" y="6153596"/>
            <a:ext cx="69181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Validé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9225" y="6706046"/>
            <a:ext cx="7299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Formulaires rejettent les entrées malformées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419225" y="7248971"/>
            <a:ext cx="729919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 avec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'; DROP TABLE--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prepared statements PDO +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e()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à l'affichage neutralisent.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315450" y="5648771"/>
            <a:ext cx="8020050" cy="3590479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2175" y="6077396"/>
            <a:ext cx="7086600" cy="457200"/>
          </a:xfrm>
          <a:prstGeom prst="roundRect">
            <a:avLst>
              <a:gd name="adj" fmla="val 50000"/>
            </a:avLst>
          </a:prstGeom>
          <a:solidFill>
            <a:srgbClr val="EDF7F1"/>
          </a:solidFill>
          <a:ln/>
        </p:spPr>
      </p:sp>
      <p:sp>
        <p:nvSpPr>
          <p:cNvPr id="23" name="Text 21"/>
          <p:cNvSpPr/>
          <p:nvPr/>
        </p:nvSpPr>
        <p:spPr>
          <a:xfrm>
            <a:off x="9972675" y="6153596"/>
            <a:ext cx="69181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E7E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Validé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82175" y="6706046"/>
            <a:ext cx="729919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Pages protégées inaccessibles sans connexion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782175" y="7620446"/>
            <a:ext cx="729919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require_login()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 tête → redirection automatique vers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/login.php?redirect=…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16485" y="952500"/>
            <a:ext cx="219521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FFFFF">
                    <a:alpha val="1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6667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PARTIE 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6972300"/>
            <a:ext cx="168744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Bilan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52500" y="8420100"/>
            <a:ext cx="137350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Choix techniques justifiés, défis rencontrés, compromis assumés et regard critique.</a:t>
            </a:r>
            <a:endParaRPr lang="en-US" sz="3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39118" y="514350"/>
            <a:ext cx="32922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31 · ANTI-TENDANCE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SITE CLASSIQUE 2026 VS EDULIB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Modifications par rapport à un site « par défaut »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662238"/>
            <a:ext cx="3931890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20367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ASPECT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84390" y="2662238"/>
            <a:ext cx="6161633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9" name="Text 7"/>
          <p:cNvSpPr/>
          <p:nvPr/>
        </p:nvSpPr>
        <p:spPr>
          <a:xfrm>
            <a:off x="5074890" y="2220367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SITE CLASSIQUE 2026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046023" y="2662238"/>
            <a:ext cx="6289477" cy="19050"/>
          </a:xfrm>
          <a:prstGeom prst="rect">
            <a:avLst/>
          </a:prstGeom>
          <a:solidFill>
            <a:srgbClr val="4A5548"/>
          </a:solidFill>
          <a:ln/>
        </p:spPr>
      </p:sp>
      <p:sp>
        <p:nvSpPr>
          <p:cNvPr id="11" name="Text 9"/>
          <p:cNvSpPr/>
          <p:nvPr/>
        </p:nvSpPr>
        <p:spPr>
          <a:xfrm>
            <a:off x="11236523" y="2220367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spc="144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3256508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814638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Stack front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84390" y="3256508"/>
            <a:ext cx="6161633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890" y="2814638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React / Next.js + Tailwind + 30 npm deps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046023" y="3256508"/>
            <a:ext cx="628947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7" name="Text 15"/>
          <p:cNvSpPr/>
          <p:nvPr/>
        </p:nvSpPr>
        <p:spPr>
          <a:xfrm>
            <a:off x="11236523" y="2814638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HTML + CSS vanilla, 0 JS framework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3841254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399383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Pipeline build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84390" y="3841254"/>
            <a:ext cx="6161633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890" y="3399383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Webpack / Vite, ~3 min CI / déploiement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046023" y="3841254"/>
            <a:ext cx="628947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3" name="Text 21"/>
          <p:cNvSpPr/>
          <p:nvPr/>
        </p:nvSpPr>
        <p:spPr>
          <a:xfrm>
            <a:off x="11236523" y="3399383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build — fichiers servis tels quels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4426000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3984129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884390" y="4426000"/>
            <a:ext cx="6161633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890" y="3984129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Google Fonts (Inter ~120 Ko, 4 graisses)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046023" y="4426000"/>
            <a:ext cx="628947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29" name="Text 27"/>
          <p:cNvSpPr/>
          <p:nvPr/>
        </p:nvSpPr>
        <p:spPr>
          <a:xfrm>
            <a:off x="11236523" y="3984129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system-ui (0 Ko, 0 requête)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5010745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4568875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Trackers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884390" y="5010745"/>
            <a:ext cx="6161633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890" y="4568875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GA, Hotjar, Pixel Meta, Sentry…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046023" y="5010745"/>
            <a:ext cx="628947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5" name="Text 33"/>
          <p:cNvSpPr/>
          <p:nvPr/>
        </p:nvSpPr>
        <p:spPr>
          <a:xfrm>
            <a:off x="11236523" y="4568875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Aucun. Logs serveur internes uniquement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52500" y="5595491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5153620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Cookies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884390" y="5595491"/>
            <a:ext cx="6161633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890" y="5153620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 cookies tiers, bandeau RGPD 30 Ko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046023" y="5595491"/>
            <a:ext cx="628947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1" name="Text 39"/>
          <p:cNvSpPr/>
          <p:nvPr/>
        </p:nvSpPr>
        <p:spPr>
          <a:xfrm>
            <a:off x="11236523" y="5153620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 cookie de session HttpOnly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52500" y="6180237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3" name="Text 41"/>
          <p:cNvSpPr/>
          <p:nvPr/>
        </p:nvSpPr>
        <p:spPr>
          <a:xfrm>
            <a:off x="1143000" y="5738366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Authentification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884390" y="6180237"/>
            <a:ext cx="6161633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890" y="5738366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OAuth + JWT (~10 Ko de JS)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046023" y="6180237"/>
            <a:ext cx="628947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7" name="Text 45"/>
          <p:cNvSpPr/>
          <p:nvPr/>
        </p:nvSpPr>
        <p:spPr>
          <a:xfrm>
            <a:off x="11236523" y="5738366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Sessions PHP + bcrypt + rate limiting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52500" y="6764982"/>
            <a:ext cx="3931890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49" name="Text 47"/>
          <p:cNvSpPr/>
          <p:nvPr/>
        </p:nvSpPr>
        <p:spPr>
          <a:xfrm>
            <a:off x="1143000" y="6323112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ORM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884390" y="6764982"/>
            <a:ext cx="6161633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1" name="Text 49"/>
          <p:cNvSpPr/>
          <p:nvPr/>
        </p:nvSpPr>
        <p:spPr>
          <a:xfrm>
            <a:off x="5074890" y="6323112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Doctrine / Prisma + N+1 fréquents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1046023" y="6764982"/>
            <a:ext cx="6289477" cy="9525"/>
          </a:xfrm>
          <a:prstGeom prst="rect">
            <a:avLst/>
          </a:prstGeom>
          <a:solidFill>
            <a:srgbClr val="DCE4DC"/>
          </a:solidFill>
          <a:ln/>
        </p:spPr>
      </p:sp>
      <p:sp>
        <p:nvSpPr>
          <p:cNvPr id="53" name="Text 51"/>
          <p:cNvSpPr/>
          <p:nvPr/>
        </p:nvSpPr>
        <p:spPr>
          <a:xfrm>
            <a:off x="11236523" y="6323112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PDO direct, JOIN explicites, 0 N+1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43000" y="6907857"/>
            <a:ext cx="366884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Dépendances prod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074890" y="6907857"/>
            <a:ext cx="5965482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 à 1500 paquets npm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236523" y="6907857"/>
            <a:ext cx="609716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paquet en production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63439" y="514350"/>
            <a:ext cx="39882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 · DÉFIS &amp; COMPROMIS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DISCUSSION HONNÊTE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Défis &amp; compromis assumés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2087017"/>
            <a:ext cx="80448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Défis rencontrés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14450" y="2687092"/>
            <a:ext cx="76828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 défi principal n'a pas été technique — il a été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culturel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14450" y="3807172"/>
            <a:ext cx="76828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Réécrire en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CSS pur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 composants qu'on prendrait en deux lignes avec Tailwind.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14450" y="4927253"/>
            <a:ext cx="768286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Maintenir une convention stricte sans framework : 1 fichier = 1 page,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csrf_verify()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 tête de chaque POST.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14450" y="6474023"/>
            <a:ext cx="76828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Résister à la tentation d'ajouter une dépendance dès qu'un besoin apparaît.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0" y="2087017"/>
            <a:ext cx="80448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Compromis assumés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963150" y="2687092"/>
            <a:ext cx="76066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Pas de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WYSIWYG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texte brut, économie ~150 Ko et zéro vulnérabilité d'éditeur.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63150" y="3807172"/>
            <a:ext cx="76066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Pas d'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upload d'image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ressources purement textuelles.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63150" y="4927253"/>
            <a:ext cx="76066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Pas de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WebSocket temps réel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sur les commentaires — asynchrone assumé.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963150" y="6047333"/>
            <a:ext cx="760666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Pas de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PWA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un Service Worker apporterait peu d'octets et beaucoup de complexité.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73186" y="514350"/>
            <a:ext cx="45961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33 · PISTES D'AMÉLIORATION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 NOUS DEVIONS CONTINUER LE PROJET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1428750"/>
            <a:ext cx="57150" cy="658267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1428750"/>
            <a:ext cx="1651254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Pistes d'amélioration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2087017"/>
            <a:ext cx="5232350" cy="3404592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925" y="2477542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 · INFRA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4925" y="2934742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Compression Brotli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4925" y="3468142"/>
            <a:ext cx="46633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Côté serveur. Gain attendu ≈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− 30 %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supplémentaire sur HTML + CSS.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27750" y="2087017"/>
            <a:ext cx="5232350" cy="3404592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0175" y="2477542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· INFRA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80175" y="2934742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Vérif. hébergeur vert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880175" y="3468142"/>
            <a:ext cx="46633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Intégration de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Green Web Foundation API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à la page « engagement écologique ».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103001" y="2087017"/>
            <a:ext cx="5232350" cy="3404592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55426" y="2477542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·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55426" y="2934742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MySQL → SQLite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455426" y="3468142"/>
            <a:ext cx="46633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Pour hébergeurs très contraints. Gain : suppression du processus MySQL en mémoire.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52500" y="5834509"/>
            <a:ext cx="5232350" cy="34047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4925" y="6225034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QUALITÉ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04925" y="6682234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 GitHub Actions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04925" y="7215634"/>
            <a:ext cx="46633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PHPUnit + linter PHP-CS-Fixer en pre-commit, sans devDependency front.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527750" y="5834509"/>
            <a:ext cx="5232350" cy="34047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0175" y="6225034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· UX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80175" y="6682234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 sombre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880175" y="7215634"/>
            <a:ext cx="46633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Préférence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prefers-color-scheme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réduit la conso sur écrans OLED.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2103001" y="5834509"/>
            <a:ext cx="5232350" cy="3404741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>
            <a:solidFill>
              <a:srgbClr val="DC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55426" y="6225034"/>
            <a:ext cx="4663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· ÉQUITÉ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455426" y="6682234"/>
            <a:ext cx="4663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Accessibilité avancée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455426" y="7215634"/>
            <a:ext cx="46633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Tests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NVDA + VoiceOver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mode contraste élevé, navigation clavier exhaustive.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C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2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 sobriété se construit en </a:t>
            </a:r>
            <a:pPr algn="l" indent="0" marL="0">
              <a:lnSpc>
                <a:spcPct val="102000"/>
              </a:lnSpc>
              <a:buNone/>
            </a:pPr>
            <a:r>
              <a:rPr lang="en-US" sz="9000" b="1" spc="-180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retirant</a:t>
            </a:r>
            <a:pPr algn="l" indent="0" marL="0">
              <a:lnSpc>
                <a:spcPct val="102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952500" y="3931741"/>
            <a:ext cx="14716125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Aucun projet Green IT n'est totalement vert — la sobriété est une démarche, pas un état. Mais à périmètre fonctionnel comparable, il est possible de diviser l'empreinte par 20 à 130 simplement en faisant les choix par défaut « anti-tendance ».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7305675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7696200"/>
            <a:ext cx="38654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52500" y="8686800"/>
            <a:ext cx="3865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ECOINDEX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162550" y="7696200"/>
            <a:ext cx="38654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 Ko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162550" y="8686800"/>
            <a:ext cx="3865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ACCUEIL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72600" y="7696200"/>
            <a:ext cx="38654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9372600" y="8686800"/>
            <a:ext cx="3865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REQUÊTES HTTP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582650" y="7696200"/>
            <a:ext cx="38654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3582650" y="8686800"/>
            <a:ext cx="386543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TRACKER · COOKIE TIERS</a:t>
            </a:r>
            <a:endParaRPr lang="en-US" sz="2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47578" y="514350"/>
            <a:ext cx="22641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 · CITATION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326160"/>
            <a:ext cx="1687449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5000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4735860"/>
            <a:ext cx="14716125" cy="138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spc="-45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 perfection est atteinte non pas lorsqu'il n'y a plus rien à ajouter, mais lorsqu'il n'y a plus rien à </a:t>
            </a:r>
            <a:pPr algn="l" indent="0" marL="0">
              <a:lnSpc>
                <a:spcPct val="118000"/>
              </a:lnSpc>
              <a:buNone/>
            </a:pPr>
            <a:r>
              <a:rPr lang="en-US" sz="4500" spc="-45" kern="0" dirty="0">
                <a:solidFill>
                  <a:srgbClr val="2D7A4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retirer</a:t>
            </a:r>
            <a:pPr algn="l" indent="0" marL="0">
              <a:lnSpc>
                <a:spcPct val="118000"/>
              </a:lnSpc>
              <a:buNone/>
            </a:pPr>
            <a:r>
              <a:rPr lang="en-US" sz="4500" spc="-45" kern="0" dirty="0">
                <a:solidFill>
                  <a:srgbClr val="1A1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6541740"/>
            <a:ext cx="168744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Antoine de Saint-Exupéry, cité par le sujet TI616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9563100"/>
            <a:ext cx="67263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EduLib · </a:t>
            </a:r>
            <a:pPr algn="l" indent="0" marL="0">
              <a:buNone/>
            </a:pPr>
            <a:r>
              <a:rPr lang="en-US" sz="1800" b="1" spc="108" kern="0" dirty="0">
                <a:solidFill>
                  <a:srgbClr val="4A55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Présentation finale </a:t>
            </a:r>
            <a:pPr algn="l" indent="0" marL="0">
              <a:buNone/>
            </a:pPr>
            <a:r>
              <a:rPr lang="en-US" sz="1800" spc="108" kern="0" dirty="0">
                <a:solidFill>
                  <a:srgbClr val="7A887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Numérique Durable TI616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C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71813" y="952500"/>
            <a:ext cx="1239887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dirty="0">
                <a:solidFill>
                  <a:srgbClr val="FFFFFF">
                    <a:alpha val="1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?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6286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78" kern="0" dirty="0">
                <a:solidFill>
                  <a:srgbClr val="C8E6D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MINUTES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6591300"/>
            <a:ext cx="168744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Questions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52500" y="8039100"/>
            <a:ext cx="137350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Merci de votre attention. Le dépôt et le rapport sont disponibles ci-dessous.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8953500"/>
            <a:ext cx="70117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📦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github.com/mababou9143094800/Projet-Edulib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217247" y="8953500"/>
            <a:ext cx="692838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📄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/docs/Rapport-EduLib-Numerique-Durable.pdf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2026-05-04T19:51:48Z</dcterms:created>
  <dcterms:modified xsi:type="dcterms:W3CDTF">2026-05-04T19:51:48Z</dcterms:modified>
</cp:coreProperties>
</file>